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4" r:id="rId18"/>
    <p:sldId id="270" r:id="rId19"/>
    <p:sldId id="271" r:id="rId20"/>
  </p:sldIdLst>
  <p:sldSz cx="12192000" cy="6858000"/>
  <p:notesSz cx="6858000" cy="9144000"/>
  <p:embeddedFontLst>
    <p:embeddedFont>
      <p:font typeface="Aptos Narrow" panose="020B0004020202020204" pitchFamily="34" charset="0"/>
      <p:regular r:id="rId21"/>
      <p:bold r:id="rId22"/>
      <p:italic r:id="rId23"/>
      <p:boldItalic r:id="rId24"/>
    </p:embeddedFont>
    <p:embeddedFont>
      <p:font typeface="Garamond" panose="02020404030301010803" pitchFamily="18" charset="0"/>
      <p:regular r:id="rId25"/>
      <p:bold r:id="rId26"/>
      <p:italic r:id="rId27"/>
    </p:embeddedFont>
    <p:embeddedFont>
      <p:font typeface="Inter"/>
      <p:bold r:id="rId28"/>
    </p:embeddedFont>
    <p:embeddedFont>
      <p:font typeface="Outfit"/>
      <p:bold r:id="rId29"/>
    </p:embeddedFont>
    <p:embeddedFont>
      <p:font typeface="Palatino Linotype" panose="02040502050505030304" pitchFamily="18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5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689873"/>
            <a:ext cx="10363200" cy="3123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3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648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21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9344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6074" y="186218"/>
            <a:ext cx="4025246" cy="6332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30071" y="1164004"/>
            <a:ext cx="6454588" cy="4725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800" b="1">
                <a:solidFill>
                  <a:srgbClr val="141414"/>
                </a:solidFill>
                <a:latin typeface="Georgia"/>
              </a:defRPr>
            </a:pPr>
            <a:r>
              <a:rPr sz="2471" dirty="0">
                <a:solidFill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9388" y="1637639"/>
            <a:ext cx="6454588" cy="43178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500" b="1">
                <a:solidFill>
                  <a:srgbClr val="824637"/>
                </a:solidFill>
                <a:latin typeface="Georgia"/>
              </a:defRPr>
            </a:pPr>
            <a:r>
              <a:rPr sz="2206" dirty="0">
                <a:solidFill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8979" y="2203068"/>
            <a:ext cx="7745506" cy="472565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2800" b="1">
                <a:solidFill>
                  <a:srgbClr val="143264"/>
                </a:solidFill>
                <a:latin typeface="Georgia"/>
              </a:defRPr>
            </a:pPr>
            <a:r>
              <a:rPr sz="2471">
                <a:solidFill/>
              </a:rPr>
              <a:t>OTT STREAMING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7341" y="2565699"/>
            <a:ext cx="6777318" cy="255326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200" b="0">
                <a:solidFill>
                  <a:srgbClr val="141414"/>
                </a:solidFill>
                <a:latin typeface="Aptos"/>
              </a:defRPr>
            </a:pPr>
            <a:endParaRPr sz="1059"/>
          </a:p>
        </p:txBody>
      </p:sp>
      <p:sp>
        <p:nvSpPr>
          <p:cNvPr id="7" name="TextBox 6"/>
          <p:cNvSpPr txBox="1"/>
          <p:nvPr/>
        </p:nvSpPr>
        <p:spPr>
          <a:xfrm>
            <a:off x="2586318" y="3242132"/>
            <a:ext cx="7019364" cy="173380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>
                  <a:schemeClr val="accent2"/>
                </a:solidFill>
              </a:rPr>
              <a:t>Presented by</a:t>
            </a:r>
          </a:p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/>
              </a:rPr>
              <a:t>Ch . Kusumitha Keerthi (25B11CS159)</a:t>
            </a:r>
          </a:p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/>
              </a:rPr>
              <a:t>Praveen Goswami (25B11CS782)</a:t>
            </a:r>
          </a:p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/>
              </a:rPr>
              <a:t>A . Aparajitha (25B11CS034)</a:t>
            </a:r>
          </a:p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/>
              </a:rPr>
              <a:t>K . Harsha Vardhan (25B11CS430)</a:t>
            </a:r>
          </a:p>
          <a:p>
            <a:pPr algn="ctr">
              <a:spcAft>
                <a:spcPts val="441"/>
              </a:spcAft>
              <a:defRPr sz="1700" b="1">
                <a:solidFill>
                  <a:srgbClr val="141414"/>
                </a:solidFill>
                <a:latin typeface="Georgia"/>
              </a:defRPr>
            </a:pPr>
            <a:r>
              <a:rPr sz="1500" dirty="0">
                <a:solidFill/>
              </a:rPr>
              <a:t>Guide 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5294" y="5688107"/>
            <a:ext cx="7261412" cy="35041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ctr">
              <a:spcAft>
                <a:spcPts val="441"/>
              </a:spcAft>
              <a:defRPr sz="1900" b="1">
                <a:solidFill>
                  <a:srgbClr val="141414"/>
                </a:solidFill>
                <a:latin typeface="Georgia"/>
              </a:defRPr>
            </a:pPr>
            <a:r>
              <a:rPr sz="1677" dirty="0">
                <a:solidFill>
                  <a:schemeClr val="accent1">
                    <a:lumMod val="50000"/>
                  </a:schemeClr>
                </a:solidFill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767012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271837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3776662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281487"/>
            <a:ext cx="952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4786312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251460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3019425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3524250"/>
            <a:ext cx="952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402907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4533900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5038725"/>
            <a:ext cx="95250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22915" y="581025"/>
            <a:ext cx="2377126" cy="553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E87516"/>
                </a:solidFill>
                <a:latin typeface="Outfit"/>
              </a:rPr>
              <a:t>Contents</a:t>
            </a:r>
            <a:endParaRPr sz="3000" b="1" i="0" u="none" dirty="0">
              <a:solidFill>
                <a:srgbClr val="E87516"/>
              </a:solidFill>
              <a:latin typeface="Outfi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33525" y="2747962"/>
            <a:ext cx="2085571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Problem Understanding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3252787"/>
            <a:ext cx="1067023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757612"/>
            <a:ext cx="4814887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Current Approach &amp;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4262437"/>
            <a:ext cx="1727717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Proposed Approach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767262"/>
            <a:ext cx="1686103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Dataset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2325" y="2495550"/>
            <a:ext cx="1226874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2325" y="3000375"/>
            <a:ext cx="1184748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Methodology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2325" y="3505200"/>
            <a:ext cx="1576650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Data Visualization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2325" y="4010025"/>
            <a:ext cx="2005806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Key Insights &amp;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325" y="4514850"/>
            <a:ext cx="4814887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Implementation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325" y="5019675"/>
            <a:ext cx="956993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Conclusion</a:t>
            </a:r>
          </a:p>
        </p:txBody>
      </p:sp>
      <p:pic>
        <p:nvPicPr>
          <p:cNvPr id="29" name="object 3">
            <a:extLst>
              <a:ext uri="{FF2B5EF4-FFF2-40B4-BE49-F238E27FC236}">
                <a16:creationId xmlns:a16="http://schemas.microsoft.com/office/drawing/2014/main" id="{C8CD793B-0CE1-B9A0-AC7D-48887FE3441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6D07642-3B58-CB72-5BBA-B4BEE50A550C}"/>
              </a:ext>
            </a:extLst>
          </p:cNvPr>
          <p:cNvCxnSpPr>
            <a:cxnSpLocks/>
          </p:cNvCxnSpPr>
          <p:nvPr/>
        </p:nvCxnSpPr>
        <p:spPr>
          <a:xfrm>
            <a:off x="5107756" y="1174498"/>
            <a:ext cx="7651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90750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324225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772025"/>
            <a:ext cx="952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971550"/>
            <a:ext cx="7000875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Problem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6652" y="2165825"/>
            <a:ext cx="10066256" cy="6169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OTT platforms offer a huge amount of movie and TV show content, which can make the data difficult to manage and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305175"/>
            <a:ext cx="9858866" cy="6169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Our main goal is to study this data and identify useful patterns, including popular genres, content across platforms, release-year trends, and differences between movies and TV shows.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4752975"/>
            <a:ext cx="9783452" cy="6169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We clean the OTT datasets, explore the patterns, and present the results through clear, easy-to-read charts.</a:t>
            </a:r>
          </a:p>
        </p:txBody>
      </p:sp>
      <p:pic>
        <p:nvPicPr>
          <p:cNvPr id="13" name="object 3">
            <a:extLst>
              <a:ext uri="{FF2B5EF4-FFF2-40B4-BE49-F238E27FC236}">
                <a16:creationId xmlns:a16="http://schemas.microsoft.com/office/drawing/2014/main" id="{DF4F001B-1E51-7773-FEC3-E8F255C8923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3B989A-DDF1-D5CC-FC16-00D6B9B6EC7F}"/>
              </a:ext>
            </a:extLst>
          </p:cNvPr>
          <p:cNvCxnSpPr>
            <a:cxnSpLocks/>
          </p:cNvCxnSpPr>
          <p:nvPr/>
        </p:nvCxnSpPr>
        <p:spPr>
          <a:xfrm>
            <a:off x="762000" y="1447800"/>
            <a:ext cx="981959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9150" y="1285875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05292" y="1297855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9282" y="3686176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0935" y="3856839"/>
            <a:ext cx="5181600" cy="1885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Introduction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5156" y="5449974"/>
            <a:ext cx="65" cy="27199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endParaRPr sz="1500" b="0" i="0" u="none" dirty="0">
              <a:solidFill>
                <a:schemeClr val="accent1">
                  <a:lumMod val="50000"/>
                </a:schemeClr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89566" y="3031504"/>
            <a:ext cx="4610100" cy="271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endParaRPr sz="1500" b="0" i="0" u="none" dirty="0">
              <a:solidFill>
                <a:srgbClr val="253047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36039" y="3451083"/>
            <a:ext cx="4610100" cy="271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endParaRPr sz="1500" b="0" i="0" u="none" dirty="0">
              <a:solidFill>
                <a:srgbClr val="253047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1624" y="3633196"/>
            <a:ext cx="4610100" cy="271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endParaRPr sz="1500" b="0" i="0" u="none" dirty="0">
              <a:solidFill>
                <a:srgbClr val="253047"/>
              </a:solidFill>
              <a:latin typeface="Inte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9755" y="3214120"/>
            <a:ext cx="4610100" cy="2719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endParaRPr sz="1500" b="0" i="0" u="none" dirty="0">
              <a:solidFill>
                <a:srgbClr val="253047"/>
              </a:solidFill>
              <a:latin typeface="Inter"/>
            </a:endParaRPr>
          </a:p>
        </p:txBody>
      </p:sp>
      <p:pic>
        <p:nvPicPr>
          <p:cNvPr id="23" name="object 3">
            <a:extLst>
              <a:ext uri="{FF2B5EF4-FFF2-40B4-BE49-F238E27FC236}">
                <a16:creationId xmlns:a16="http://schemas.microsoft.com/office/drawing/2014/main" id="{918DF1C9-0C4E-09BD-F9AD-B29B051BB5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59306"/>
            <a:ext cx="1163002" cy="42433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A5A290-0304-FE53-BD6C-F2D86C03EF13}"/>
              </a:ext>
            </a:extLst>
          </p:cNvPr>
          <p:cNvSpPr/>
          <p:nvPr/>
        </p:nvSpPr>
        <p:spPr>
          <a:xfrm>
            <a:off x="950045" y="1712634"/>
            <a:ext cx="4919810" cy="1409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3047"/>
              </a:solidFill>
              <a:latin typeface="Inter"/>
            </a:endParaRPr>
          </a:p>
          <a:p>
            <a:pPr algn="ctr"/>
            <a:r>
              <a:rPr lang="en-US" dirty="0">
                <a:solidFill>
                  <a:srgbClr val="253047"/>
                </a:solidFill>
                <a:latin typeface="Inter"/>
              </a:rPr>
              <a:t>OTT platforms such as Netflix, Amazon Prime Video and Disney+ contain a large amount of content.</a:t>
            </a:r>
          </a:p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F0C58D-C894-22C3-E00F-65EF5D0AABEF}"/>
              </a:ext>
            </a:extLst>
          </p:cNvPr>
          <p:cNvSpPr/>
          <p:nvPr/>
        </p:nvSpPr>
        <p:spPr>
          <a:xfrm>
            <a:off x="6671624" y="1712634"/>
            <a:ext cx="4919810" cy="1409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53047"/>
                </a:solidFill>
                <a:latin typeface="Inter"/>
              </a:rPr>
              <a:t>The datasets include movies, TV shows, genres, countries, ratings, language and release years.</a:t>
            </a:r>
          </a:p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0A48CC-E749-BA86-1E1C-B730C2E0E83D}"/>
              </a:ext>
            </a:extLst>
          </p:cNvPr>
          <p:cNvSpPr/>
          <p:nvPr/>
        </p:nvSpPr>
        <p:spPr>
          <a:xfrm>
            <a:off x="950045" y="3885063"/>
            <a:ext cx="4919810" cy="1409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53047"/>
              </a:solidFill>
              <a:latin typeface="Inter"/>
            </a:endParaRPr>
          </a:p>
          <a:p>
            <a:pPr algn="ctr"/>
            <a:r>
              <a:rPr lang="en-US" dirty="0">
                <a:solidFill>
                  <a:srgbClr val="253047"/>
                </a:solidFill>
                <a:latin typeface="Inter"/>
              </a:rPr>
              <a:t>Raw data can make important patterns hard to spot, so we use Python to clean it and make the analysis easier.</a:t>
            </a:r>
          </a:p>
          <a:p>
            <a:pPr algn="ctr"/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429F67-2C03-991B-E797-9AAD5A6E998B}"/>
              </a:ext>
            </a:extLst>
          </p:cNvPr>
          <p:cNvSpPr/>
          <p:nvPr/>
        </p:nvSpPr>
        <p:spPr>
          <a:xfrm>
            <a:off x="6671624" y="3885063"/>
            <a:ext cx="4919810" cy="140901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53047"/>
                </a:solidFill>
                <a:latin typeface="Inter"/>
              </a:rPr>
              <a:t>Pandas and NumPy are used for data handling. Matplotlib are used to create charts and graphs.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00FCFDC-5C45-F025-F20C-AC524FCA4FD4}"/>
              </a:ext>
            </a:extLst>
          </p:cNvPr>
          <p:cNvSpPr/>
          <p:nvPr/>
        </p:nvSpPr>
        <p:spPr>
          <a:xfrm>
            <a:off x="950044" y="5957740"/>
            <a:ext cx="10748619" cy="547780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50000"/>
                </a:schemeClr>
              </a:solidFill>
              <a:latin typeface="Inter"/>
            </a:endParaRPr>
          </a:p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The final results help us compare platforms and understand OTT content trends.</a:t>
            </a:r>
          </a:p>
          <a:p>
            <a:pPr algn="ctr"/>
            <a:endParaRPr lang="en-IN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0FBDAE9-E7DB-F722-2877-756C929BA023}"/>
              </a:ext>
            </a:extLst>
          </p:cNvPr>
          <p:cNvCxnSpPr>
            <a:cxnSpLocks/>
          </p:cNvCxnSpPr>
          <p:nvPr/>
        </p:nvCxnSpPr>
        <p:spPr>
          <a:xfrm>
            <a:off x="762000" y="1132984"/>
            <a:ext cx="765142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83681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602831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421981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83681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602831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421981"/>
            <a:ext cx="952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69530" y="625311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Current / Manual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764631"/>
            <a:ext cx="48196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OTT data is usually available in CSV and Excel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583781"/>
            <a:ext cx="48196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Manually checking thousands of records takes a great deal of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402931"/>
            <a:ext cx="59817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Comparing platforms row by row is difficult.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2764631"/>
            <a:ext cx="48196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It is also difficult to identify popular genres and yearly trends by hand.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583781"/>
            <a:ext cx="48196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Missing values and duplicate records may be missed.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402931"/>
            <a:ext cx="48196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Raw tables are difficult to understand without charts.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B305FE32-A8D6-202F-A908-337004788F1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19FEC3-E097-2F7B-ECA2-3FABD6712C65}"/>
              </a:ext>
            </a:extLst>
          </p:cNvPr>
          <p:cNvCxnSpPr>
            <a:cxnSpLocks/>
          </p:cNvCxnSpPr>
          <p:nvPr/>
        </p:nvCxnSpPr>
        <p:spPr>
          <a:xfrm>
            <a:off x="3269530" y="1274386"/>
            <a:ext cx="1227056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297367"/>
            <a:ext cx="10668000" cy="933450"/>
          </a:xfrm>
          <a:prstGeom prst="roundRect">
            <a:avLst>
              <a:gd name="adj" fmla="val 12244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62000" y="2347913"/>
            <a:ext cx="10668000" cy="933450"/>
          </a:xfrm>
          <a:prstGeom prst="roundRect">
            <a:avLst>
              <a:gd name="adj" fmla="val 1224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3495675"/>
            <a:ext cx="10668000" cy="933450"/>
          </a:xfrm>
          <a:prstGeom prst="roundRect">
            <a:avLst>
              <a:gd name="adj" fmla="val 12244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2000" y="4627183"/>
            <a:ext cx="10668000" cy="933450"/>
          </a:xfrm>
          <a:prstGeom prst="roundRect">
            <a:avLst>
              <a:gd name="adj" fmla="val 1224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2000" y="5734050"/>
            <a:ext cx="10668000" cy="933450"/>
          </a:xfrm>
          <a:prstGeom prst="roundRect">
            <a:avLst>
              <a:gd name="adj" fmla="val 12244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Limitations of Manual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125" y="1657350"/>
            <a:ext cx="5430910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Manual checking takes more time when the dataset is large.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2125" y="2717865"/>
            <a:ext cx="4852803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Comparing different OTT platforms becomes difficult.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62125" y="3812406"/>
            <a:ext cx="5321265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Missing values and duplicate records can affect the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125" y="4946734"/>
            <a:ext cx="6589561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Trends and relationships between fields are not easy to identify manually.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2125" y="5994484"/>
            <a:ext cx="4227119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Manual calculations can also lead to mistakes.</a:t>
            </a:r>
          </a:p>
        </p:txBody>
      </p:sp>
      <p:pic>
        <p:nvPicPr>
          <p:cNvPr id="24" name="object 3">
            <a:extLst>
              <a:ext uri="{FF2B5EF4-FFF2-40B4-BE49-F238E27FC236}">
                <a16:creationId xmlns:a16="http://schemas.microsoft.com/office/drawing/2014/main" id="{156F1291-51E9-25AA-C33F-1841CD9DF6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50616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142" y="1326331"/>
            <a:ext cx="609600" cy="38100"/>
          </a:xfrm>
          <a:prstGeom prst="rect">
            <a:avLst/>
          </a:prstGeom>
          <a:solidFill>
            <a:srgbClr val="E87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42" y="1606457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2" y="2239114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92" y="2860260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082" y="3510354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5" y="4720075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0" y="5424487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70" y="6090744"/>
            <a:ext cx="9525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4142" y="742950"/>
            <a:ext cx="7193309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Proposed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41" y="1540470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We begin by loading the Netflix, Amazon Prime Video, and Disney+ datasets.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100" y="2142069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Check the number of rows, columns and data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42" y="2765273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Handle missing values and remove duplicate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42" y="3429000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Standardize the required columns for analysis.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564" y="4022519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Compare movies and TV shows across platforms.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73" y="4562912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Analyze genres, release years, countries and ratings.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100" y="5343279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We create charts to make the important patterns easy to see.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100" y="6028391"/>
            <a:ext cx="6888509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Summarize the main findings from the analysis.</a:t>
            </a:r>
          </a:p>
        </p:txBody>
      </p:sp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0FB805F4-A18E-D08E-4E2D-1DF4C0CDE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42" y="4095675"/>
            <a:ext cx="95250" cy="200025"/>
          </a:xfrm>
          <a:prstGeom prst="rect">
            <a:avLst/>
          </a:prstGeom>
        </p:spPr>
      </p:pic>
      <p:pic>
        <p:nvPicPr>
          <p:cNvPr id="25" name="object 3">
            <a:extLst>
              <a:ext uri="{FF2B5EF4-FFF2-40B4-BE49-F238E27FC236}">
                <a16:creationId xmlns:a16="http://schemas.microsoft.com/office/drawing/2014/main" id="{3D756A71-08EE-8269-5585-9F3666E86A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629" y="157657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481161"/>
            <a:ext cx="4922364" cy="2746920"/>
          </a:xfrm>
          <a:prstGeom prst="roundRect">
            <a:avLst>
              <a:gd name="adj" fmla="val 4161"/>
            </a:avLst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386409" y="1461732"/>
            <a:ext cx="4959543" cy="2746920"/>
          </a:xfrm>
          <a:prstGeom prst="roundRect">
            <a:avLst>
              <a:gd name="adj" fmla="val 4562"/>
            </a:avLst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22" y="2189879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22" y="2626245"/>
            <a:ext cx="95250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Dataset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62050"/>
            <a:ext cx="4588179" cy="18466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chemeClr val="accent1">
                    <a:lumMod val="50000"/>
                  </a:schemeClr>
                </a:solidFill>
                <a:latin typeface="Inter"/>
              </a:rPr>
              <a:t>CLEANED OTT DATASETS USED FOR ANALYZING MOVIES AND TV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464" y="1706743"/>
            <a:ext cx="5291481" cy="2857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Outfit"/>
              </a:rPr>
              <a:t>Dataset Snapshot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75" y="2146044"/>
            <a:ext cx="5039506" cy="3810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3000" b="1" i="0" u="none" dirty="0">
                <a:solidFill>
                  <a:srgbClr val="FFFFFF"/>
                </a:solidFill>
                <a:latin typeface="Inter"/>
              </a:rPr>
              <a:t>34,438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919" y="2610696"/>
            <a:ext cx="5039506" cy="1905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E0F2FE"/>
                </a:solidFill>
                <a:latin typeface="Inter"/>
              </a:rPr>
              <a:t>Total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64" y="3097254"/>
            <a:ext cx="4126855" cy="82287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FFFFFF"/>
                </a:solidFill>
                <a:latin typeface="Inter"/>
              </a:rPr>
              <a:t>Netflix: 31,991</a:t>
            </a:r>
            <a:r>
              <a:rPr dirty="0">
                <a:solidFill/>
              </a:rPr>
              <a:t>
</a:t>
            </a:r>
            <a:r>
              <a:rPr sz="1350" b="0" i="0" u="none" dirty="0">
                <a:solidFill>
                  <a:srgbClr val="FFFFFF"/>
                </a:solidFill>
                <a:latin typeface="Inter"/>
              </a:rPr>
              <a:t> Disney+: 1,447</a:t>
            </a:r>
            <a:r>
              <a:rPr dirty="0">
                <a:solidFill/>
              </a:rPr>
              <a:t>
</a:t>
            </a:r>
            <a:r>
              <a:rPr sz="1350" b="0" i="0" u="none" dirty="0">
                <a:solidFill>
                  <a:srgbClr val="FFFFFF"/>
                </a:solidFill>
                <a:latin typeface="Inter"/>
              </a:rPr>
              <a:t> Amazon Prime: 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0992" y="1706743"/>
            <a:ext cx="5266478" cy="2381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E87516"/>
                </a:solidFill>
                <a:latin typeface="Outfit"/>
              </a:rPr>
              <a:t>Data Quality &amp;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1172" y="3020092"/>
            <a:ext cx="5015693" cy="1905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253047"/>
                </a:solidFill>
                <a:latin typeface="Inter"/>
              </a:rPr>
              <a:t>TOOLS &amp; 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3547" y="3441519"/>
            <a:ext cx="4107805" cy="41549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253047"/>
                </a:solidFill>
                <a:latin typeface="Inter"/>
              </a:rPr>
              <a:t>Python • Pandas • NumPy • Matplotlib • Seaborn • Power</a:t>
            </a:r>
            <a:r>
              <a:rPr lang="en-IN" sz="1350" b="0" i="0" u="none" dirty="0">
                <a:solidFill>
                  <a:srgbClr val="253047"/>
                </a:solidFill>
                <a:latin typeface="Inter"/>
              </a:rPr>
              <a:t> </a:t>
            </a:r>
            <a:r>
              <a:rPr sz="1350" b="0" i="0" u="none" dirty="0">
                <a:solidFill>
                  <a:srgbClr val="253047"/>
                </a:solidFill>
                <a:latin typeface="Inter"/>
              </a:rPr>
              <a:t>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0684" y="2155263"/>
            <a:ext cx="4787093" cy="2571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253047"/>
                </a:solidFill>
                <a:latin typeface="Inter"/>
              </a:rPr>
              <a:t>Missing values handled &amp; duplicates removed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0684" y="2567686"/>
            <a:ext cx="4787093" cy="2571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253047"/>
                </a:solidFill>
                <a:latin typeface="Inter"/>
              </a:rPr>
              <a:t>Columns standardized</a:t>
            </a:r>
          </a:p>
        </p:txBody>
      </p:sp>
      <p:pic>
        <p:nvPicPr>
          <p:cNvPr id="21" name="object 3">
            <a:extLst>
              <a:ext uri="{FF2B5EF4-FFF2-40B4-BE49-F238E27FC236}">
                <a16:creationId xmlns:a16="http://schemas.microsoft.com/office/drawing/2014/main" id="{419A4BF7-1D12-11C4-BE1E-233790BF52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20" y="100511"/>
            <a:ext cx="1163002" cy="424338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10C1354-AF28-2ED5-5F6F-7081F32EAA9D}"/>
              </a:ext>
            </a:extLst>
          </p:cNvPr>
          <p:cNvSpPr/>
          <p:nvPr/>
        </p:nvSpPr>
        <p:spPr>
          <a:xfrm>
            <a:off x="648704" y="5020322"/>
            <a:ext cx="11142482" cy="964525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fontAlgn="ctr"/>
            <a:endParaRPr lang="en-IN" sz="2400" b="1" dirty="0">
              <a:latin typeface="Aptos Narrow" panose="020B0004020202020204" pitchFamily="34" charset="0"/>
            </a:endParaRPr>
          </a:p>
          <a:p>
            <a:pPr fontAlgn="ctr"/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Garamond" panose="02020404030301010803" pitchFamily="18" charset="0"/>
              </a:rPr>
              <a:t>Fields:</a:t>
            </a:r>
            <a:r>
              <a:rPr lang="en-IN" sz="2400" b="1" dirty="0">
                <a:latin typeface="Aptos Narrow" panose="020B0004020202020204" pitchFamily="34" charset="0"/>
              </a:rPr>
              <a:t>                  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Title  ,   type   ,    genre / genres  ,    release year  ,    country    ,    rating   ,    duration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6410325"/>
            <a:ext cx="5105400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1924050"/>
            <a:ext cx="9525" cy="44958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57875" y="1924050"/>
            <a:ext cx="9525" cy="44958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24600" y="6410325"/>
            <a:ext cx="5105400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24600" y="1924050"/>
            <a:ext cx="9525" cy="44958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20475" y="1924050"/>
            <a:ext cx="9525" cy="44958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019425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524250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029075"/>
            <a:ext cx="952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4533900"/>
            <a:ext cx="952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019425"/>
            <a:ext cx="952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524250"/>
            <a:ext cx="952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4029075"/>
            <a:ext cx="95250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4533900"/>
            <a:ext cx="95250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5038725"/>
            <a:ext cx="952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5543550"/>
            <a:ext cx="95250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85925" y="2309812"/>
            <a:ext cx="2727285" cy="32316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Hardware</a:t>
            </a:r>
            <a:r>
              <a:rPr sz="2100" b="1" i="0" u="none" dirty="0">
                <a:solidFill>
                  <a:schemeClr val="tx2">
                    <a:lumMod val="50000"/>
                  </a:schemeClr>
                </a:solidFill>
                <a:latin typeface="Outfit"/>
              </a:rPr>
              <a:t> </a:t>
            </a:r>
            <a:r>
              <a:rPr sz="210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7325" y="3000375"/>
            <a:ext cx="2785378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Processor: Intel Core i3 or above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57325" y="3505200"/>
            <a:ext cx="1809791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RAM: Minimum 4 GB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325" y="4010025"/>
            <a:ext cx="3084434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Storage: Minimum 10 GB free space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7325" y="4514850"/>
            <a:ext cx="2276201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Stable internet connection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1118" y="2305884"/>
            <a:ext cx="2635978" cy="32316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Software Requirements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9925" y="3000375"/>
            <a:ext cx="2201436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chemeClr val="tx2">
                    <a:lumMod val="50000"/>
                  </a:schemeClr>
                </a:solidFill>
                <a:latin typeface="Inter"/>
              </a:rPr>
              <a:t>Windows / Linux / macOS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9925" y="3505200"/>
            <a:ext cx="911147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Python 3.x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9925" y="4010025"/>
            <a:ext cx="2855269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Google </a:t>
            </a:r>
            <a:r>
              <a:rPr sz="1650" b="0" i="0" u="none" dirty="0" err="1">
                <a:solidFill>
                  <a:schemeClr val="tx2">
                    <a:lumMod val="50000"/>
                  </a:schemeClr>
                </a:solidFill>
                <a:latin typeface="Inter"/>
              </a:rPr>
              <a:t>Colab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 / Jupyter Notebook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9925" y="4514850"/>
            <a:ext cx="1650965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Pandas and NumPy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9925" y="5019675"/>
            <a:ext cx="946991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Matplotlib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19925" y="5524500"/>
            <a:ext cx="2338461" cy="2963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>
                <a:solidFill>
                  <a:srgbClr val="253047"/>
                </a:solidFill>
                <a:latin typeface="Inter"/>
              </a:rPr>
              <a:t>Power </a:t>
            </a:r>
            <a:r>
              <a:rPr sz="1650" b="0" i="0" u="none" dirty="0">
                <a:solidFill>
                  <a:schemeClr val="tx2">
                    <a:lumMod val="50000"/>
                  </a:schemeClr>
                </a:solidFill>
                <a:latin typeface="Inter"/>
              </a:rPr>
              <a:t>BI</a:t>
            </a:r>
            <a:r>
              <a:rPr sz="1650" b="0" i="0" u="none" dirty="0">
                <a:solidFill>
                  <a:srgbClr val="253047"/>
                </a:solidFill>
                <a:latin typeface="Inter"/>
              </a:rPr>
              <a:t> &amp; Excel / CSV files</a:t>
            </a:r>
          </a:p>
        </p:txBody>
      </p:sp>
      <p:pic>
        <p:nvPicPr>
          <p:cNvPr id="38" name="object 3">
            <a:extLst>
              <a:ext uri="{FF2B5EF4-FFF2-40B4-BE49-F238E27FC236}">
                <a16:creationId xmlns:a16="http://schemas.microsoft.com/office/drawing/2014/main" id="{9C5F5E13-BAD9-7968-697B-D68BBBA8D6E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024" y="185262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1657350"/>
            <a:ext cx="5181600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248400" y="1657350"/>
            <a:ext cx="5181600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4143375"/>
            <a:ext cx="51816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57925" y="4143375"/>
            <a:ext cx="5181600" cy="2105025"/>
          </a:xfrm>
          <a:prstGeom prst="roundRect">
            <a:avLst>
              <a:gd name="adj" fmla="val 5429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87516"/>
                </a:solidFill>
                <a:latin typeface="Inter"/>
              </a:rPr>
              <a:t>PART 1: DATA 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505075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Load Netflix, Amazon Prime Video and Disney+ datasets.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981325"/>
            <a:ext cx="5691187" cy="2000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Check the available files and required columns.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2505075"/>
            <a:ext cx="5629275" cy="2000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Check rows, columns and data types.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781300"/>
            <a:ext cx="5629275" cy="2000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Understand the basic structure of each dataset.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991100"/>
            <a:ext cx="5691187" cy="2000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Handle missing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325" y="5267325"/>
            <a:ext cx="5691187" cy="2000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• Remove duplicate records and unwanted entries.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4991100"/>
            <a:ext cx="4648200" cy="6000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Checking formats, data types, and inconsistent values. Remove duplicates and handle missing, clean dataset for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325" y="2000664"/>
            <a:ext cx="2523896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       </a:t>
            </a:r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1 – Data Loading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725" y="2028825"/>
            <a:ext cx="3447867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2 – Data Acquisition &amp; Filtering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0516" y="4533900"/>
            <a:ext cx="2376548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3 – Data Extracting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1229" y="4514850"/>
            <a:ext cx="3387081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4 – Data Validation &amp; Cleaning</a:t>
            </a:r>
          </a:p>
        </p:txBody>
      </p:sp>
      <p:pic>
        <p:nvPicPr>
          <p:cNvPr id="28" name="object 3">
            <a:extLst>
              <a:ext uri="{FF2B5EF4-FFF2-40B4-BE49-F238E27FC236}">
                <a16:creationId xmlns:a16="http://schemas.microsoft.com/office/drawing/2014/main" id="{CF1B5A77-B578-7A34-6AE4-2FA26EBA787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23" y="16883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56046" y="1666875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3" name="Rounded Rectangle 2"/>
          <p:cNvSpPr/>
          <p:nvPr/>
        </p:nvSpPr>
        <p:spPr>
          <a:xfrm>
            <a:off x="6257925" y="1678471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Rounded Rectangle 3"/>
          <p:cNvSpPr/>
          <p:nvPr/>
        </p:nvSpPr>
        <p:spPr>
          <a:xfrm>
            <a:off x="762000" y="4105275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ounded Rectangle 4"/>
          <p:cNvSpPr/>
          <p:nvPr/>
        </p:nvSpPr>
        <p:spPr>
          <a:xfrm>
            <a:off x="6248400" y="4105275"/>
            <a:ext cx="5181600" cy="21431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3C1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E87516"/>
                </a:solidFill>
                <a:latin typeface="Outfit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62050"/>
            <a:ext cx="11430000" cy="19050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87516"/>
                </a:solidFill>
                <a:latin typeface="Inter"/>
              </a:rPr>
              <a:t>PART 2: ANALYSIS &amp;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505075"/>
            <a:ext cx="4648200" cy="6000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Study movies, TV shows, genres, ratings and countries. Summaries for easy comparison and interpretation by using bar graphs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505075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Identify trends and patterns in the OTT data. Compare key factors like genres, ratings, and content types.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4953000"/>
            <a:ext cx="4648200" cy="60007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Create charts and graphs to present the analysis clearly. Use dashboards and visuals to highlight key trends and insights.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953000"/>
            <a:ext cx="4648200" cy="4000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253047"/>
                </a:solidFill>
                <a:latin typeface="Inter"/>
              </a:rPr>
              <a:t>Summarize the key findings from the analysis. Interpret the results to identify useful trends and insights.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2028825"/>
            <a:ext cx="3691652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5 – Aggregation &amp; 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5758" y="2010189"/>
            <a:ext cx="2217979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6 – Data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4831" y="4476750"/>
            <a:ext cx="2616998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7 – Data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5758" y="4476750"/>
            <a:ext cx="3153620" cy="25391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chemeClr val="accent1">
                    <a:lumMod val="75000"/>
                  </a:schemeClr>
                </a:solidFill>
                <a:latin typeface="Outfit"/>
              </a:rPr>
              <a:t>Module 8 – Results &amp; Interpretation</a:t>
            </a:r>
          </a:p>
        </p:txBody>
      </p:sp>
      <p:pic>
        <p:nvPicPr>
          <p:cNvPr id="25" name="object 3">
            <a:extLst>
              <a:ext uri="{FF2B5EF4-FFF2-40B4-BE49-F238E27FC236}">
                <a16:creationId xmlns:a16="http://schemas.microsoft.com/office/drawing/2014/main" id="{4DB0C85E-C82A-72F1-ACE2-2FB9FB431E7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85262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2233612"/>
            <a:ext cx="11430000" cy="67627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 dirty="0">
                <a:solidFill>
                  <a:srgbClr val="E87516"/>
                </a:solidFill>
                <a:latin typeface="Outfit"/>
              </a:rPr>
              <a:t>Data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02733-B923-F9D9-91E4-BF1B436ECB93}"/>
              </a:ext>
            </a:extLst>
          </p:cNvPr>
          <p:cNvSpPr txBox="1"/>
          <p:nvPr/>
        </p:nvSpPr>
        <p:spPr>
          <a:xfrm>
            <a:off x="4332403" y="303840"/>
            <a:ext cx="6094428" cy="553998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algn="l"/>
            <a:r>
              <a:rPr lang="en-IN" sz="3000" b="1" dirty="0">
                <a:solidFill>
                  <a:srgbClr val="E87516"/>
                </a:solidFill>
                <a:latin typeface="Outfit"/>
              </a:rPr>
              <a:t> Data Visualizations</a:t>
            </a:r>
            <a:endParaRPr lang="en-IN" sz="3000" b="1" i="0" u="none" dirty="0">
              <a:solidFill>
                <a:srgbClr val="0369A1"/>
              </a:solidFill>
              <a:latin typeface="Outfi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EF145-93B3-1BE8-A152-AF110D2160FF}"/>
              </a:ext>
            </a:extLst>
          </p:cNvPr>
          <p:cNvSpPr/>
          <p:nvPr/>
        </p:nvSpPr>
        <p:spPr>
          <a:xfrm>
            <a:off x="4504440" y="875120"/>
            <a:ext cx="934825" cy="45719"/>
          </a:xfrm>
          <a:prstGeom prst="rect">
            <a:avLst/>
          </a:prstGeom>
          <a:solidFill>
            <a:srgbClr val="E87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A8B6E6-E8AF-9227-02E3-7DF05FED1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1061039"/>
            <a:ext cx="4905866" cy="27969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4EE334-34D1-1DC0-70C6-1D3F4DA7A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381" y="920839"/>
            <a:ext cx="5158697" cy="279877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064F4B-B89C-5BD2-AFF9-94EA328FE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9" y="3971135"/>
            <a:ext cx="4905866" cy="27437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584C578-7A3E-FB7A-B575-912209E32A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705" y="3712779"/>
            <a:ext cx="5738048" cy="3142257"/>
          </a:xfrm>
          <a:prstGeom prst="rect">
            <a:avLst/>
          </a:prstGeom>
        </p:spPr>
      </p:pic>
      <p:pic>
        <p:nvPicPr>
          <p:cNvPr id="24" name="object 3">
            <a:extLst>
              <a:ext uri="{FF2B5EF4-FFF2-40B4-BE49-F238E27FC236}">
                <a16:creationId xmlns:a16="http://schemas.microsoft.com/office/drawing/2014/main" id="{3E651048-A283-BDCF-B94C-5B9EB50ACFA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499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314450"/>
            <a:ext cx="609600" cy="38100"/>
          </a:xfrm>
          <a:prstGeom prst="rect">
            <a:avLst/>
          </a:prstGeom>
          <a:solidFill>
            <a:srgbClr val="E87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62187"/>
            <a:ext cx="95250" cy="200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67012"/>
            <a:ext cx="952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71837"/>
            <a:ext cx="952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76662"/>
            <a:ext cx="9525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595812"/>
            <a:ext cx="952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100637"/>
            <a:ext cx="952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609600"/>
            <a:ext cx="11430000" cy="47625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E87516"/>
                </a:solidFill>
                <a:latin typeface="Outfit"/>
              </a:rPr>
              <a:t>Key Insights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243137"/>
            <a:ext cx="111252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The three cleaned datasets contain a total of 34,438 OTT records.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2747962"/>
            <a:ext cx="111252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Netflix has 31,991 records, followed by Disney+ with 1,447 and Amazon Prime with 1,000.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252787"/>
            <a:ext cx="111252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Netflix contains 16,000 movies and 15,991 TV shows, showing a nearly equal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757612"/>
            <a:ext cx="10458450" cy="6286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In the Netflix dataset, Drama is the most common primary genre with 8,666 titles, followed by Comedy with 4,677.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576762"/>
            <a:ext cx="111252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Amazon Prime has 520 TV shows and 480 movies. Disney+ has 1,052 movies and 395 TV shows.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5081587"/>
            <a:ext cx="11125200" cy="3143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3047"/>
                </a:solidFill>
                <a:latin typeface="Inter"/>
              </a:rPr>
              <a:t>These patterns help us compare platforms and understand how OTT content is distributed.</a:t>
            </a:r>
          </a:p>
        </p:txBody>
      </p:sp>
      <p:pic>
        <p:nvPicPr>
          <p:cNvPr id="17" name="object 3">
            <a:extLst>
              <a:ext uri="{FF2B5EF4-FFF2-40B4-BE49-F238E27FC236}">
                <a16:creationId xmlns:a16="http://schemas.microsoft.com/office/drawing/2014/main" id="{2DD707ED-701E-A659-7C83-F6591D9A57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99" y="16883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object 3">
            <a:extLst>
              <a:ext uri="{FF2B5EF4-FFF2-40B4-BE49-F238E27FC236}">
                <a16:creationId xmlns:a16="http://schemas.microsoft.com/office/drawing/2014/main" id="{E31AC5D3-31CD-21C1-E929-304A7914FD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72757"/>
            <a:ext cx="1163002" cy="424338"/>
          </a:xfrm>
          <a:prstGeom prst="rect">
            <a:avLst/>
          </a:prstGeom>
        </p:spPr>
      </p:pic>
      <p:pic>
        <p:nvPicPr>
          <p:cNvPr id="27" name="Image 33">
            <a:extLst>
              <a:ext uri="{FF2B5EF4-FFF2-40B4-BE49-F238E27FC236}">
                <a16:creationId xmlns:a16="http://schemas.microsoft.com/office/drawing/2014/main" id="{2F7E8F3B-3669-A726-5310-F4765CAE24E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8474" y="1197205"/>
            <a:ext cx="10350631" cy="500563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08E37B6-226C-1C4D-1D78-6F071DCF2992}"/>
              </a:ext>
            </a:extLst>
          </p:cNvPr>
          <p:cNvSpPr txBox="1"/>
          <p:nvPr/>
        </p:nvSpPr>
        <p:spPr>
          <a:xfrm>
            <a:off x="4214505" y="219000"/>
            <a:ext cx="3035511" cy="553998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rgbClr val="E87516"/>
                </a:solidFill>
                <a:latin typeface="Outfit"/>
              </a:rPr>
              <a:t>Netflix</a:t>
            </a:r>
            <a:r>
              <a:rPr lang="en-IN" b="1" dirty="0">
                <a:solidFill>
                  <a:srgbClr val="E87516"/>
                </a:solidFill>
                <a:latin typeface="Outfit"/>
              </a:rPr>
              <a:t> </a:t>
            </a:r>
            <a:r>
              <a:rPr lang="en-IN" sz="3000" b="1" dirty="0">
                <a:solidFill>
                  <a:srgbClr val="E87516"/>
                </a:solidFill>
                <a:latin typeface="Outfit"/>
              </a:rPr>
              <a:t>Dashboard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90A0673-7240-2428-0FA8-52BFD6BC8E8A}"/>
              </a:ext>
            </a:extLst>
          </p:cNvPr>
          <p:cNvSpPr/>
          <p:nvPr/>
        </p:nvSpPr>
        <p:spPr>
          <a:xfrm>
            <a:off x="4306478" y="772998"/>
            <a:ext cx="1302469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3D4DA28-CA40-D36C-1AF4-D84ECD41722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72757"/>
            <a:ext cx="1163002" cy="424338"/>
          </a:xfrm>
          <a:prstGeom prst="rect">
            <a:avLst/>
          </a:prstGeom>
        </p:spPr>
      </p:pic>
      <p:pic>
        <p:nvPicPr>
          <p:cNvPr id="4" name="Image 42">
            <a:extLst>
              <a:ext uri="{FF2B5EF4-FFF2-40B4-BE49-F238E27FC236}">
                <a16:creationId xmlns:a16="http://schemas.microsoft.com/office/drawing/2014/main" id="{D648F6D4-2E16-B934-D40D-912DA5E9E9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5608" y="1300899"/>
            <a:ext cx="11001081" cy="5062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B6FFB1-5138-3BD8-C1F8-FD5ED38CAA90}"/>
              </a:ext>
            </a:extLst>
          </p:cNvPr>
          <p:cNvSpPr txBox="1"/>
          <p:nvPr/>
        </p:nvSpPr>
        <p:spPr>
          <a:xfrm>
            <a:off x="4854804" y="310242"/>
            <a:ext cx="3353547" cy="553998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rgbClr val="E87516"/>
                </a:solidFill>
                <a:latin typeface="Outfit"/>
              </a:rPr>
              <a:t>Disney + Dashboard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5C06F-88F2-E92F-D86F-3B2DCBD93BEF}"/>
              </a:ext>
            </a:extLst>
          </p:cNvPr>
          <p:cNvSpPr/>
          <p:nvPr/>
        </p:nvSpPr>
        <p:spPr>
          <a:xfrm>
            <a:off x="4938074" y="864239"/>
            <a:ext cx="160412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31512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38">
            <a:extLst>
              <a:ext uri="{FF2B5EF4-FFF2-40B4-BE49-F238E27FC236}">
                <a16:creationId xmlns:a16="http://schemas.microsoft.com/office/drawing/2014/main" id="{1768F5C6-4C14-A1F6-DCA1-0B98167DFD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9876" y="1319753"/>
            <a:ext cx="10539166" cy="4892511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5E4101CD-770A-02A2-9828-2D8F6DBD62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499" y="172757"/>
            <a:ext cx="1163002" cy="424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193AB4-E06F-5D9C-C4E1-61A1FF91392B}"/>
              </a:ext>
            </a:extLst>
          </p:cNvPr>
          <p:cNvSpPr txBox="1"/>
          <p:nvPr/>
        </p:nvSpPr>
        <p:spPr>
          <a:xfrm>
            <a:off x="4510181" y="320096"/>
            <a:ext cx="3171637" cy="553998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rgbClr val="E87516"/>
                </a:solidFill>
                <a:latin typeface="Outfit"/>
              </a:rPr>
              <a:t>Movies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3D9A7-2884-8092-0594-177520E3C814}"/>
              </a:ext>
            </a:extLst>
          </p:cNvPr>
          <p:cNvSpPr/>
          <p:nvPr/>
        </p:nvSpPr>
        <p:spPr>
          <a:xfrm>
            <a:off x="4608136" y="887098"/>
            <a:ext cx="1604127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83664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561A9FCF-56B2-C6C4-6BB1-AAE71140B16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499" y="172757"/>
            <a:ext cx="1163002" cy="424338"/>
          </a:xfrm>
          <a:prstGeom prst="rect">
            <a:avLst/>
          </a:prstGeom>
        </p:spPr>
      </p:pic>
      <p:pic>
        <p:nvPicPr>
          <p:cNvPr id="4" name="Image 45">
            <a:extLst>
              <a:ext uri="{FF2B5EF4-FFF2-40B4-BE49-F238E27FC236}">
                <a16:creationId xmlns:a16="http://schemas.microsoft.com/office/drawing/2014/main" id="{A3490D65-5C72-5380-51DE-F0D76DBF129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6349" y="1302026"/>
            <a:ext cx="10952922" cy="5227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6C56D6-CBA5-3FBF-F962-1B597A692080}"/>
              </a:ext>
            </a:extLst>
          </p:cNvPr>
          <p:cNvSpPr txBox="1"/>
          <p:nvPr/>
        </p:nvSpPr>
        <p:spPr>
          <a:xfrm>
            <a:off x="4522304" y="279592"/>
            <a:ext cx="2946769" cy="553998"/>
          </a:xfrm>
          <a:prstGeom prst="rect">
            <a:avLst/>
          </a:prstGeom>
          <a:noFill/>
          <a:ln/>
        </p:spPr>
        <p:txBody>
          <a:bodyPr wrap="none" rtlCol="0">
            <a:spAutoFit/>
          </a:bodyPr>
          <a:lstStyle/>
          <a:p>
            <a:r>
              <a:rPr lang="en-IN" sz="3000" b="1" dirty="0">
                <a:solidFill>
                  <a:srgbClr val="E87516"/>
                </a:solidFill>
                <a:latin typeface="Outfit"/>
              </a:rPr>
              <a:t>Prime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8657B0-6B25-8D55-DBE5-F0C33A50FDB4}"/>
              </a:ext>
            </a:extLst>
          </p:cNvPr>
          <p:cNvSpPr/>
          <p:nvPr/>
        </p:nvSpPr>
        <p:spPr>
          <a:xfrm>
            <a:off x="4608136" y="810730"/>
            <a:ext cx="1166499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933711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934075" y="6715125"/>
            <a:ext cx="5495925" cy="95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46" y="1678885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46" y="2243137"/>
            <a:ext cx="952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646" y="3095625"/>
            <a:ext cx="952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828" y="4114800"/>
            <a:ext cx="95250" cy="2000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5192" y="877270"/>
            <a:ext cx="3298980" cy="46166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3000" b="1" i="0" u="none" dirty="0">
                <a:solidFill>
                  <a:schemeClr val="accent6"/>
                </a:solidFill>
                <a:latin typeface="Outfit"/>
              </a:rPr>
              <a:t>                  </a:t>
            </a:r>
            <a:r>
              <a:rPr sz="3000" b="1" i="0" u="none" dirty="0">
                <a:solidFill>
                  <a:schemeClr val="accent6"/>
                </a:solidFill>
                <a:latin typeface="Outfit"/>
              </a:rPr>
              <a:t>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877270"/>
            <a:ext cx="3294428" cy="46166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3000" b="1" i="0" u="none" dirty="0">
                <a:solidFill>
                  <a:schemeClr val="accent6"/>
                </a:solidFill>
                <a:latin typeface="Outfit"/>
              </a:rPr>
              <a:t>              </a:t>
            </a:r>
            <a:r>
              <a:rPr sz="3000" b="1" i="0" u="none" dirty="0">
                <a:solidFill>
                  <a:schemeClr val="accent6"/>
                </a:solidFill>
                <a:latin typeface="Outfit"/>
              </a:rPr>
              <a:t>Future Scope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C8C98AC-A2F4-E519-DCEA-0885CA7D40C2}"/>
              </a:ext>
            </a:extLst>
          </p:cNvPr>
          <p:cNvGrpSpPr/>
          <p:nvPr/>
        </p:nvGrpSpPr>
        <p:grpSpPr>
          <a:xfrm>
            <a:off x="762000" y="1543050"/>
            <a:ext cx="4810125" cy="3967162"/>
            <a:chOff x="762000" y="1543050"/>
            <a:chExt cx="4810125" cy="3967162"/>
          </a:xfrm>
        </p:grpSpPr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1671688"/>
              <a:ext cx="95250" cy="200025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2457551"/>
              <a:ext cx="95250" cy="20002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2000" y="3260240"/>
              <a:ext cx="95250" cy="200025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738" y="4076701"/>
              <a:ext cx="95250" cy="200025"/>
            </a:xfrm>
            <a:prstGeom prst="rect">
              <a:avLst/>
            </a:prstGeom>
          </p:spPr>
        </p:pic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495" y="4665593"/>
              <a:ext cx="95250" cy="200025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1066800" y="1543050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 dirty="0">
                  <a:solidFill>
                    <a:srgbClr val="334155"/>
                  </a:solidFill>
                  <a:latin typeface="Inter"/>
                </a:rPr>
                <a:t>This project shows how OTT datasets can be cleaned and analyzed using Python.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66800" y="2362200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>
                  <a:solidFill>
                    <a:srgbClr val="334155"/>
                  </a:solidFill>
                  <a:latin typeface="Inter"/>
                </a:rPr>
                <a:t>We combined information from Netflix, Amazon Prime Video and Disney+.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66800" y="3181350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>
                  <a:solidFill>
                    <a:srgbClr val="334155"/>
                  </a:solidFill>
                  <a:latin typeface="Inter"/>
                </a:rPr>
                <a:t>The analysis helped us compare platforms, content types and genres.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66800" y="4000500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>
                  <a:solidFill>
                    <a:srgbClr val="334155"/>
                  </a:solidFill>
                  <a:latin typeface="Inter"/>
                </a:rPr>
                <a:t>Charts made the main patterns easier to understand.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066800" y="4567237"/>
              <a:ext cx="4505325" cy="9429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>
                  <a:solidFill>
                    <a:srgbClr val="334155"/>
                  </a:solidFill>
                  <a:latin typeface="Inter"/>
                </a:rPr>
                <a:t>The project also shows how data analysis can support better content-related decisions.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0DAFB0-E2AD-51DD-E99B-B10F17291840}"/>
              </a:ext>
            </a:extLst>
          </p:cNvPr>
          <p:cNvGrpSpPr/>
          <p:nvPr/>
        </p:nvGrpSpPr>
        <p:grpSpPr>
          <a:xfrm>
            <a:off x="6772275" y="1609725"/>
            <a:ext cx="4505325" cy="3038321"/>
            <a:chOff x="6772275" y="1609725"/>
            <a:chExt cx="4505325" cy="3038321"/>
          </a:xfrm>
        </p:grpSpPr>
        <p:sp>
          <p:nvSpPr>
            <p:cNvPr id="24" name="TextBox 23"/>
            <p:cNvSpPr txBox="1"/>
            <p:nvPr/>
          </p:nvSpPr>
          <p:spPr>
            <a:xfrm>
              <a:off x="6772275" y="1609725"/>
              <a:ext cx="4505325" cy="2963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 dirty="0">
                  <a:solidFill>
                    <a:srgbClr val="334155"/>
                  </a:solidFill>
                  <a:latin typeface="Inter"/>
                </a:rPr>
                <a:t>Add more OTT platforms and newer datasets.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72275" y="2170664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 dirty="0">
                  <a:solidFill>
                    <a:srgbClr val="334155"/>
                  </a:solidFill>
                  <a:latin typeface="Inter"/>
                </a:rPr>
                <a:t>Build recommendation models using machine learning.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72275" y="3045928"/>
              <a:ext cx="4505325" cy="62865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b="0" i="0" u="none" dirty="0">
                  <a:solidFill>
                    <a:srgbClr val="334155"/>
                  </a:solidFill>
                  <a:latin typeface="Inter"/>
                </a:rPr>
                <a:t>Study viewer ratings, reviews and engagement in more detail.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72275" y="4031146"/>
              <a:ext cx="4505325" cy="6169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sz="1650" i="0" u="none" dirty="0">
                  <a:solidFill>
                    <a:schemeClr val="tx2">
                      <a:lumMod val="50000"/>
                    </a:schemeClr>
                  </a:solidFill>
                  <a:latin typeface="Inter"/>
                </a:rPr>
                <a:t>Apply these same steps to larger datasets, live data sources, and predictive modelling.</a:t>
              </a:r>
            </a:p>
          </p:txBody>
        </p:sp>
      </p:grpSp>
      <p:pic>
        <p:nvPicPr>
          <p:cNvPr id="29" name="object 3">
            <a:extLst>
              <a:ext uri="{FF2B5EF4-FFF2-40B4-BE49-F238E27FC236}">
                <a16:creationId xmlns:a16="http://schemas.microsoft.com/office/drawing/2014/main" id="{C1459EF0-BBA9-89F7-AE99-F75EDAFE55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641" y="185262"/>
            <a:ext cx="1163002" cy="42433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792BBA-CE3F-2E2A-72C0-A0407118066B}"/>
              </a:ext>
            </a:extLst>
          </p:cNvPr>
          <p:cNvSpPr/>
          <p:nvPr/>
        </p:nvSpPr>
        <p:spPr>
          <a:xfrm>
            <a:off x="531044" y="855515"/>
            <a:ext cx="5403031" cy="452508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10605C-C521-F80B-049D-FA846E6A917C}"/>
              </a:ext>
            </a:extLst>
          </p:cNvPr>
          <p:cNvSpPr/>
          <p:nvPr/>
        </p:nvSpPr>
        <p:spPr>
          <a:xfrm>
            <a:off x="6095999" y="855515"/>
            <a:ext cx="5564957" cy="4525084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67855" y="1999615"/>
            <a:ext cx="6656294" cy="2764028"/>
          </a:xfrm>
          <a:prstGeom prst="rect">
            <a:avLst/>
          </a:prstGeom>
          <a:ln/>
        </p:spPr>
        <p:txBody>
          <a:bodyPr vert="horz" lIns="80682" tIns="40341" rIns="80682" bIns="40341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18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177" dirty="0">
                <a:solidFill/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17" y="180274"/>
            <a:ext cx="1563476" cy="3744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626659" y="4276165"/>
            <a:ext cx="7968848" cy="309637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>
              <a:spcAft>
                <a:spcPts val="441"/>
              </a:spcAft>
              <a:defRPr sz="1600" b="1">
                <a:solidFill>
                  <a:srgbClr val="141414"/>
                </a:solidFill>
                <a:latin typeface="Georgia"/>
              </a:defRPr>
            </a:pPr>
            <a:r>
              <a:rPr sz="1412">
                <a:solidFill/>
              </a:rPr>
              <a:t>Ch . Kusumitha Keerthi  |  Praveen Goswami  |  A . Aparajitha  |  K . Harsha Vardhan</a:t>
            </a:r>
          </a:p>
        </p:txBody>
      </p:sp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1039</Words>
  <Application>Microsoft Office PowerPoint</Application>
  <PresentationFormat>Widescreen</PresentationFormat>
  <Paragraphs>132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Outfit</vt:lpstr>
      <vt:lpstr>Inter</vt:lpstr>
      <vt:lpstr>Aptos Narrow</vt:lpstr>
      <vt:lpstr>Garamond</vt:lpstr>
      <vt:lpstr>Palatino Linotype</vt:lpstr>
      <vt:lpstr>Wingdings</vt:lpstr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 laptop</dc:creator>
  <cp:keywords/>
  <dc:description>generated using python-pptx</dc:description>
  <cp:lastModifiedBy>lenovo laptop</cp:lastModifiedBy>
  <cp:revision>8</cp:revision>
  <dcterms:created xsi:type="dcterms:W3CDTF">2013-01-27T09:14:16Z</dcterms:created>
  <dcterms:modified xsi:type="dcterms:W3CDTF">2026-10-29T18:37:56Z</dcterms:modified>
  <cp:category/>
</cp:coreProperties>
</file>