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embeddedFontLst>
    <p:embeddedFont>
      <p:font typeface="Inter"/>
      <p:bold r:id="rId18"/>
    </p:embeddedFont>
    <p:embeddedFont>
      <p:font typeface="Outfit"/>
      <p:bold r:id="rId19"/>
    </p:embeddedFont>
    <p:embeddedFont>
      <p:font typeface="Palatino Linotype" panose="02040502050505030304" pitchFamily="18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689873"/>
            <a:ext cx="10363200" cy="3123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3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648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21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9344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35502" y="186218"/>
            <a:ext cx="4068450" cy="55469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49388" y="927848"/>
            <a:ext cx="6454588" cy="472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41"/>
              </a:spcAft>
              <a:defRPr sz="2800" b="1">
                <a:solidFill>
                  <a:srgbClr val="141414"/>
                </a:solidFill>
                <a:latin typeface="Georgia"/>
              </a:defRPr>
            </a:pPr>
            <a:r>
              <a:rPr sz="2471"/>
              <a:t>Data Analysis Essentials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49388" y="1467770"/>
            <a:ext cx="6454588" cy="431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41"/>
              </a:spcAft>
              <a:defRPr sz="2500" b="1">
                <a:solidFill>
                  <a:srgbClr val="824637"/>
                </a:solidFill>
                <a:latin typeface="Georgia"/>
              </a:defRPr>
            </a:pPr>
            <a:r>
              <a:rPr sz="2206"/>
              <a:t>Cornerstone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28979" y="2203068"/>
            <a:ext cx="7745506" cy="472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41"/>
              </a:spcAft>
              <a:defRPr sz="2800" b="1">
                <a:solidFill>
                  <a:srgbClr val="143264"/>
                </a:solidFill>
                <a:latin typeface="Georgia"/>
              </a:defRPr>
            </a:pPr>
            <a:r>
              <a:rPr sz="2471"/>
              <a:t>OTT STREAMING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07341" y="2565699"/>
            <a:ext cx="6777318" cy="255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41"/>
              </a:spcAft>
              <a:defRPr sz="1200" b="0">
                <a:solidFill>
                  <a:srgbClr val="141414"/>
                </a:solidFill>
                <a:latin typeface="Aptos"/>
              </a:defRPr>
            </a:pPr>
            <a:endParaRPr sz="1059"/>
          </a:p>
        </p:txBody>
      </p:sp>
      <p:sp>
        <p:nvSpPr>
          <p:cNvPr id="7" name="TextBox 6"/>
          <p:cNvSpPr txBox="1"/>
          <p:nvPr/>
        </p:nvSpPr>
        <p:spPr>
          <a:xfrm>
            <a:off x="2586318" y="3242132"/>
            <a:ext cx="7019364" cy="1733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41"/>
              </a:spcAft>
              <a:defRPr sz="1700" b="1">
                <a:solidFill>
                  <a:srgbClr val="141414"/>
                </a:solidFill>
                <a:latin typeface="Georgia"/>
              </a:defRPr>
            </a:pPr>
            <a:r>
              <a:rPr sz="1500" dirty="0"/>
              <a:t>Presented by</a:t>
            </a:r>
          </a:p>
          <a:p>
            <a:pPr>
              <a:spcAft>
                <a:spcPts val="441"/>
              </a:spcAft>
              <a:defRPr sz="1700" b="1">
                <a:solidFill>
                  <a:srgbClr val="141414"/>
                </a:solidFill>
                <a:latin typeface="Georgia"/>
              </a:defRPr>
            </a:pPr>
            <a:r>
              <a:rPr sz="1500" dirty="0"/>
              <a:t>Ch . Kusumitha Keerthi (25B11CS159)</a:t>
            </a:r>
          </a:p>
          <a:p>
            <a:pPr>
              <a:spcAft>
                <a:spcPts val="441"/>
              </a:spcAft>
              <a:defRPr sz="1700" b="1">
                <a:solidFill>
                  <a:srgbClr val="141414"/>
                </a:solidFill>
                <a:latin typeface="Georgia"/>
              </a:defRPr>
            </a:pPr>
            <a:r>
              <a:rPr sz="1500" dirty="0"/>
              <a:t>Praveen Goswami (25B11CS782)</a:t>
            </a:r>
          </a:p>
          <a:p>
            <a:pPr>
              <a:spcAft>
                <a:spcPts val="441"/>
              </a:spcAft>
              <a:defRPr sz="1700" b="1">
                <a:solidFill>
                  <a:srgbClr val="141414"/>
                </a:solidFill>
                <a:latin typeface="Georgia"/>
              </a:defRPr>
            </a:pPr>
            <a:r>
              <a:rPr sz="1500" dirty="0"/>
              <a:t>A . Aparajitha (25B11CS034)</a:t>
            </a:r>
          </a:p>
          <a:p>
            <a:pPr>
              <a:spcAft>
                <a:spcPts val="441"/>
              </a:spcAft>
              <a:defRPr sz="1700" b="1">
                <a:solidFill>
                  <a:srgbClr val="141414"/>
                </a:solidFill>
                <a:latin typeface="Georgia"/>
              </a:defRPr>
            </a:pPr>
            <a:r>
              <a:rPr sz="1500" dirty="0"/>
              <a:t>K . Harsha Vardhan (25B11CS430)</a:t>
            </a:r>
          </a:p>
          <a:p>
            <a:pPr>
              <a:spcAft>
                <a:spcPts val="441"/>
              </a:spcAft>
              <a:defRPr sz="1700" b="1">
                <a:solidFill>
                  <a:srgbClr val="141414"/>
                </a:solidFill>
                <a:latin typeface="Georgia"/>
              </a:defRPr>
            </a:pPr>
            <a:r>
              <a:rPr sz="1500" dirty="0"/>
              <a:t>Guide : Mr. K. Ashok Teja, Assistant Professor, CSE Dept.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5294" y="5688107"/>
            <a:ext cx="7261412" cy="350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41"/>
              </a:spcAft>
              <a:defRPr sz="1900" b="1">
                <a:solidFill>
                  <a:srgbClr val="141414"/>
                </a:solidFill>
                <a:latin typeface="Georgia"/>
              </a:defRPr>
            </a:pPr>
            <a:r>
              <a:rPr sz="1677"/>
              <a:t>Department of Computer Science and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2915" y="1118890"/>
            <a:ext cx="6096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281237"/>
            <a:ext cx="5029200" cy="3267075"/>
          </a:xfrm>
          <a:prstGeom prst="roundRect">
            <a:avLst>
              <a:gd name="adj" fmla="val 4664"/>
            </a:avLst>
          </a:prstGeom>
          <a:solidFill>
            <a:srgbClr val="FFFFFF"/>
          </a:solidFill>
          <a:ln w="9525">
            <a:solidFill>
              <a:srgbClr val="E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0" y="2028825"/>
            <a:ext cx="5029200" cy="3771900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9525">
            <a:solidFill>
              <a:srgbClr val="E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25" y="2767012"/>
            <a:ext cx="9525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25" y="3271837"/>
            <a:ext cx="9525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25" y="3776662"/>
            <a:ext cx="9525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25" y="4281487"/>
            <a:ext cx="9525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25" y="4786312"/>
            <a:ext cx="9525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525" y="2514600"/>
            <a:ext cx="9525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525" y="3019425"/>
            <a:ext cx="9525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525" y="3524250"/>
            <a:ext cx="9525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525" y="4029075"/>
            <a:ext cx="9525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525" y="4533900"/>
            <a:ext cx="95250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525" y="5038725"/>
            <a:ext cx="95250" cy="2000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2915" y="581025"/>
            <a:ext cx="174553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369A1"/>
                </a:solidFill>
                <a:latin typeface="Outfit"/>
              </a:rPr>
              <a:t>Contents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33525" y="2747962"/>
            <a:ext cx="4814887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Problem Understanding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3525" y="3252787"/>
            <a:ext cx="4814887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Introduction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3525" y="3757612"/>
            <a:ext cx="4814887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Current Approach &amp; Limitations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3525" y="4262437"/>
            <a:ext cx="4814887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Proposed Approach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33525" y="4767262"/>
            <a:ext cx="4814887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Dataset Description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2325" y="2495550"/>
            <a:ext cx="4814887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Requirements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2325" y="3000375"/>
            <a:ext cx="4814887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Methodology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2325" y="3505200"/>
            <a:ext cx="4814887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Data Visualization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2325" y="4010025"/>
            <a:ext cx="4814887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Key Insights &amp;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2325" y="4514850"/>
            <a:ext cx="4814887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Implementation Workflow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2325" y="5019675"/>
            <a:ext cx="4814887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Conclusion</a:t>
            </a:r>
          </a:p>
        </p:txBody>
      </p:sp>
      <p:pic>
        <p:nvPicPr>
          <p:cNvPr id="29" name="object 3">
            <a:extLst>
              <a:ext uri="{FF2B5EF4-FFF2-40B4-BE49-F238E27FC236}">
                <a16:creationId xmlns:a16="http://schemas.microsoft.com/office/drawing/2014/main" id="{C8CD793B-0CE1-B9A0-AC7D-48887FE3441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676400"/>
            <a:ext cx="6096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190750"/>
            <a:ext cx="9525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324225"/>
            <a:ext cx="9525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772025"/>
            <a:ext cx="95250" cy="200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971550"/>
            <a:ext cx="7000875" cy="476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369A1"/>
                </a:solidFill>
                <a:latin typeface="Outfit"/>
              </a:rPr>
              <a:t>Problem Understanding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6652" y="2165825"/>
            <a:ext cx="10066256" cy="616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rgbClr val="334155"/>
                </a:solidFill>
                <a:latin typeface="Inter"/>
              </a:rPr>
              <a:t>OTT platforms provide a large amount of movies and TV shows, so the data becomes difficult to manage and understand.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3305175"/>
            <a:ext cx="9858866" cy="616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rgbClr val="334155"/>
                </a:solidFill>
                <a:latin typeface="Inter"/>
              </a:rPr>
              <a:t>The main problem is to study this data and find useful information such as popular genres, platform-wise content, release-year trends and the difference between movies and TV shows.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4752975"/>
            <a:ext cx="9783452" cy="616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rgbClr val="334155"/>
                </a:solidFill>
                <a:latin typeface="Inter"/>
              </a:rPr>
              <a:t>Our project uses data analysis to clean the OTT datasets, study the patterns and present the results using simple charts.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DF4F001B-1E51-7773-FEC3-E8F255C8923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5924550"/>
            <a:ext cx="10668000" cy="742950"/>
          </a:xfrm>
          <a:prstGeom prst="roundRect">
            <a:avLst>
              <a:gd name="adj" fmla="val 15384"/>
            </a:avLst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19150" y="1285875"/>
            <a:ext cx="5181600" cy="1885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05292" y="1297855"/>
            <a:ext cx="5181600" cy="1885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9282" y="3686176"/>
            <a:ext cx="5181600" cy="1885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203033" y="3662705"/>
            <a:ext cx="5181600" cy="1885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50707" y="1285875"/>
            <a:ext cx="57150" cy="18859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70432" y="1285875"/>
            <a:ext cx="57150" cy="18859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2000" y="3719512"/>
            <a:ext cx="57150" cy="18859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80547" y="3686176"/>
            <a:ext cx="57150" cy="18859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0" y="6162675"/>
            <a:ext cx="266700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407" y="1543050"/>
            <a:ext cx="304800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350" y="2076450"/>
            <a:ext cx="238125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710" y="4029075"/>
            <a:ext cx="333375" cy="2667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0" y="4031628"/>
            <a:ext cx="333375" cy="2667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2000" y="609600"/>
            <a:ext cx="11430000" cy="476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369A1"/>
                </a:solidFill>
                <a:latin typeface="Outfit"/>
              </a:rPr>
              <a:t>Introduction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" y="6153150"/>
            <a:ext cx="90963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>
                <a:solidFill>
                  <a:srgbClr val="FFFFFF"/>
                </a:solidFill>
                <a:latin typeface="Inter"/>
              </a:rPr>
              <a:t>The final results help us compare platforms and understand OTT content trends.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1710" y="2111997"/>
            <a:ext cx="46101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>
                <a:solidFill>
                  <a:srgbClr val="334155"/>
                </a:solidFill>
                <a:latin typeface="Inter"/>
              </a:rPr>
              <a:t>OTT platforms such as Netflix, Amazon Prime Video and Disney+ contain a large amount of content.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0350" y="2495550"/>
            <a:ext cx="46101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The datasets include movies, TV shows, genres, countries, ratings, language and release years.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668" y="4506503"/>
            <a:ext cx="46101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>
                <a:solidFill>
                  <a:srgbClr val="334155"/>
                </a:solidFill>
                <a:latin typeface="Inter"/>
              </a:rPr>
              <a:t>Looking at raw data makes it difficult to understand the main patterns. We use Python to clean the data and make the analysis easier.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6685" y="4526928"/>
            <a:ext cx="46101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>
                <a:solidFill>
                  <a:srgbClr val="334155"/>
                </a:solidFill>
                <a:latin typeface="Inter"/>
              </a:rPr>
              <a:t>Pandas and NumPy are used for data handling. Matplotlib are used to create charts and graphs.</a:t>
            </a:r>
          </a:p>
        </p:txBody>
      </p:sp>
      <p:pic>
        <p:nvPicPr>
          <p:cNvPr id="23" name="object 3">
            <a:extLst>
              <a:ext uri="{FF2B5EF4-FFF2-40B4-BE49-F238E27FC236}">
                <a16:creationId xmlns:a16="http://schemas.microsoft.com/office/drawing/2014/main" id="{918DF1C9-0C4E-09BD-F9AD-B29B051BB5C8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0499" y="159306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69530" y="1201573"/>
            <a:ext cx="6096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783681"/>
            <a:ext cx="95250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602831"/>
            <a:ext cx="9525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421981"/>
            <a:ext cx="9525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783681"/>
            <a:ext cx="9525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602831"/>
            <a:ext cx="9525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421981"/>
            <a:ext cx="95250" cy="2000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69530" y="625311"/>
            <a:ext cx="11430000" cy="476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369A1"/>
                </a:solidFill>
                <a:latin typeface="Outfit"/>
              </a:rPr>
              <a:t>Current / Manual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2764631"/>
            <a:ext cx="48196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OTT data is usually available in CSV and Excel files.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3583781"/>
            <a:ext cx="48196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Checking thousands of records manually takes a lot of 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4402931"/>
            <a:ext cx="5981700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Comparing platforms row by row is difficult.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5600" y="2764631"/>
            <a:ext cx="48196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Finding popular genres and yearly trends manually is not easy.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5600" y="3583781"/>
            <a:ext cx="48196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Missing values and duplicate records may be missed.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5600" y="4402931"/>
            <a:ext cx="48196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Raw tables are difficult to understand without charts.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B305FE32-A8D6-202F-A908-337004788F1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266825"/>
            <a:ext cx="10668000" cy="933450"/>
          </a:xfrm>
          <a:prstGeom prst="roundRect">
            <a:avLst>
              <a:gd name="adj" fmla="val 12244"/>
            </a:avLst>
          </a:prstGeom>
          <a:solidFill>
            <a:srgbClr val="FFFFFF"/>
          </a:solidFill>
          <a:ln w="9525">
            <a:solidFill>
              <a:srgbClr val="E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347913"/>
            <a:ext cx="10668000" cy="933450"/>
          </a:xfrm>
          <a:prstGeom prst="roundRect">
            <a:avLst>
              <a:gd name="adj" fmla="val 12244"/>
            </a:avLst>
          </a:prstGeom>
          <a:solidFill>
            <a:srgbClr val="FFFFFF"/>
          </a:solidFill>
          <a:ln w="9525">
            <a:solidFill>
              <a:srgbClr val="E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3495675"/>
            <a:ext cx="10668000" cy="933450"/>
          </a:xfrm>
          <a:prstGeom prst="roundRect">
            <a:avLst>
              <a:gd name="adj" fmla="val 12244"/>
            </a:avLst>
          </a:prstGeom>
          <a:solidFill>
            <a:srgbClr val="FFFFFF"/>
          </a:solidFill>
          <a:ln w="9525">
            <a:solidFill>
              <a:srgbClr val="E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62000" y="4791075"/>
            <a:ext cx="10668000" cy="933450"/>
          </a:xfrm>
          <a:prstGeom prst="roundRect">
            <a:avLst>
              <a:gd name="adj" fmla="val 12244"/>
            </a:avLst>
          </a:prstGeom>
          <a:solidFill>
            <a:srgbClr val="FFFFFF"/>
          </a:solidFill>
          <a:ln w="9525">
            <a:solidFill>
              <a:srgbClr val="E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62000" y="5857875"/>
            <a:ext cx="10668000" cy="933450"/>
          </a:xfrm>
          <a:prstGeom prst="roundRect">
            <a:avLst>
              <a:gd name="adj" fmla="val 12244"/>
            </a:avLst>
          </a:prstGeom>
          <a:solidFill>
            <a:srgbClr val="FFFFFF"/>
          </a:solidFill>
          <a:ln w="9525">
            <a:solidFill>
              <a:srgbClr val="E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1552575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2613090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3725110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922" y="4991100"/>
            <a:ext cx="4572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572" y="6105525"/>
            <a:ext cx="457200" cy="4572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674" y="1657350"/>
            <a:ext cx="19050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0460" y="2760138"/>
            <a:ext cx="238125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9675" y="3840981"/>
            <a:ext cx="190500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6135" y="5124450"/>
            <a:ext cx="190500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0460" y="6238875"/>
            <a:ext cx="142875" cy="190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62000" y="609600"/>
            <a:ext cx="11430000" cy="476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369A1"/>
                </a:solidFill>
                <a:latin typeface="Outfit"/>
              </a:rPr>
              <a:t>Limitations of Manual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2125" y="1657350"/>
            <a:ext cx="7369968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 dirty="0">
                <a:solidFill>
                  <a:srgbClr val="334155"/>
                </a:solidFill>
                <a:latin typeface="Inter"/>
              </a:rPr>
              <a:t>Manual checking takes more time when the dataset is large.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2125" y="2717865"/>
            <a:ext cx="650081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 dirty="0">
                <a:solidFill>
                  <a:srgbClr val="334155"/>
                </a:solidFill>
                <a:latin typeface="Inter"/>
              </a:rPr>
              <a:t>Comparing different OTT platforms becomes difficult.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2125" y="3812406"/>
            <a:ext cx="731043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 dirty="0">
                <a:solidFill>
                  <a:srgbClr val="334155"/>
                </a:solidFill>
                <a:latin typeface="Inter"/>
              </a:rPr>
              <a:t>Missing values and duplicate records can affect the results.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2125" y="5133975"/>
            <a:ext cx="897731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 dirty="0">
                <a:solidFill>
                  <a:srgbClr val="334155"/>
                </a:solidFill>
                <a:latin typeface="Inter"/>
              </a:rPr>
              <a:t>Trends and relationships between fields are not easy to identify manually.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62125" y="6200775"/>
            <a:ext cx="5655468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 dirty="0">
                <a:solidFill>
                  <a:srgbClr val="334155"/>
                </a:solidFill>
                <a:latin typeface="Inter"/>
              </a:rPr>
              <a:t>Manual calculations can also lead to mistakes.</a:t>
            </a:r>
          </a:p>
        </p:txBody>
      </p:sp>
      <p:pic>
        <p:nvPicPr>
          <p:cNvPr id="24" name="object 3">
            <a:extLst>
              <a:ext uri="{FF2B5EF4-FFF2-40B4-BE49-F238E27FC236}">
                <a16:creationId xmlns:a16="http://schemas.microsoft.com/office/drawing/2014/main" id="{156F1291-51E9-25AA-C33F-1841CD9DF646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0499" y="150616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142" y="1326331"/>
            <a:ext cx="6096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42" y="1606457"/>
            <a:ext cx="9525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092" y="2239114"/>
            <a:ext cx="9525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092" y="2860260"/>
            <a:ext cx="9525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082" y="3510354"/>
            <a:ext cx="9525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315" y="4720075"/>
            <a:ext cx="9525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70" y="5424487"/>
            <a:ext cx="9525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70" y="6090744"/>
            <a:ext cx="95250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04142" y="742950"/>
            <a:ext cx="7193309" cy="476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369A1"/>
                </a:solidFill>
                <a:latin typeface="Outfit"/>
              </a:rPr>
              <a:t>Proposed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941" y="1540470"/>
            <a:ext cx="6888509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rgbClr val="334155"/>
                </a:solidFill>
                <a:latin typeface="Inter"/>
              </a:rPr>
              <a:t>Load the Netflix, Amazon Prime Video and Disney+ datasets.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100" y="2142069"/>
            <a:ext cx="6888509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rgbClr val="334155"/>
                </a:solidFill>
                <a:latin typeface="Inter"/>
              </a:rPr>
              <a:t>Check the number of rows, columns and data types.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942" y="2765273"/>
            <a:ext cx="6888509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rgbClr val="334155"/>
                </a:solidFill>
                <a:latin typeface="Inter"/>
              </a:rPr>
              <a:t>Handle missing values and remove duplicate records.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942" y="3429000"/>
            <a:ext cx="6888509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rgbClr val="334155"/>
                </a:solidFill>
                <a:latin typeface="Inter"/>
              </a:rPr>
              <a:t>Standardize the required columns for analysis.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564" y="4022519"/>
            <a:ext cx="6888509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rgbClr val="334155"/>
                </a:solidFill>
                <a:latin typeface="Inter"/>
              </a:rPr>
              <a:t>Compare movies and TV shows across platforms.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73" y="4562912"/>
            <a:ext cx="6888509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Analyze genres, release years, countries and ratings.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100" y="5343279"/>
            <a:ext cx="6888509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rgbClr val="334155"/>
                </a:solidFill>
                <a:latin typeface="Inter"/>
              </a:rPr>
              <a:t>Create charts to show the important patterns.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100" y="6028391"/>
            <a:ext cx="6888509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rgbClr val="334155"/>
                </a:solidFill>
                <a:latin typeface="Inter"/>
              </a:rPr>
              <a:t>Summarize the main findings from the analysis.</a:t>
            </a:r>
          </a:p>
        </p:txBody>
      </p:sp>
      <p:pic>
        <p:nvPicPr>
          <p:cNvPr id="23" name="Picture 22" descr="image.png">
            <a:extLst>
              <a:ext uri="{FF2B5EF4-FFF2-40B4-BE49-F238E27FC236}">
                <a16:creationId xmlns:a16="http://schemas.microsoft.com/office/drawing/2014/main" id="{0FB805F4-A18E-D08E-4E2D-1DF4C0CDE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42" y="4095675"/>
            <a:ext cx="95250" cy="200025"/>
          </a:xfrm>
          <a:prstGeom prst="rect">
            <a:avLst/>
          </a:prstGeom>
        </p:spPr>
      </p:pic>
      <p:pic>
        <p:nvPicPr>
          <p:cNvPr id="25" name="object 3">
            <a:extLst>
              <a:ext uri="{FF2B5EF4-FFF2-40B4-BE49-F238E27FC236}">
                <a16:creationId xmlns:a16="http://schemas.microsoft.com/office/drawing/2014/main" id="{3D756A71-08EE-8269-5585-9F3666E86A9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629" y="157657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24821" y="1504950"/>
            <a:ext cx="4641205" cy="2746920"/>
          </a:xfrm>
          <a:prstGeom prst="roundRect">
            <a:avLst>
              <a:gd name="adj" fmla="val 4161"/>
            </a:avLst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24820" y="4318545"/>
            <a:ext cx="4641205" cy="2505075"/>
          </a:xfrm>
          <a:prstGeom prst="roundRect">
            <a:avLst>
              <a:gd name="adj" fmla="val 4562"/>
            </a:avLst>
          </a:prstGeom>
          <a:solidFill>
            <a:srgbClr val="FFFFFF"/>
          </a:solidFill>
          <a:ln w="9525">
            <a:solidFill>
              <a:srgbClr val="E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175" y="4941494"/>
            <a:ext cx="9525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110" y="5449169"/>
            <a:ext cx="95250" cy="20002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60405" y="1657350"/>
            <a:ext cx="5569594" cy="414337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60405" y="1657350"/>
          <a:ext cx="5560069" cy="4143375"/>
        </p:xfrm>
        <a:graphic>
          <a:graphicData uri="http://schemas.openxmlformats.org/drawingml/2006/table">
            <a:tbl>
              <a:tblPr/>
              <a:tblGrid>
                <a:gridCol w="1542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7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7921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369A1"/>
                          </a:solidFill>
                          <a:latin typeface="Inter"/>
                        </a:rPr>
                        <a:t>Field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369A1"/>
                          </a:solidFill>
                          <a:latin typeface="Inter"/>
                        </a:rPr>
                        <a:t>Description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92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title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Name of the movie or TV show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92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type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Movie or TV Show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92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genre / genres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Genre or category of the content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792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release_year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Year in which the content was released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792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country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Country related to the content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792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rating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Content rating / audience rating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7928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duration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Movie duration or number of seasons / episodes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2000" y="609600"/>
            <a:ext cx="11430000" cy="476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369A1"/>
                </a:solidFill>
                <a:latin typeface="Outfit"/>
              </a:rPr>
              <a:t>Dataset 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162050"/>
            <a:ext cx="11430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CLEANED OTT DATASETS USED FOR ANALYZING MOVIES AND TV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464" y="1706743"/>
            <a:ext cx="5291481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F8FAFC"/>
                </a:solidFill>
                <a:latin typeface="Outfit"/>
              </a:rPr>
              <a:t>Dataset Snapshot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175" y="2146044"/>
            <a:ext cx="5039506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3000" b="1" i="0" u="none" dirty="0">
                <a:solidFill>
                  <a:srgbClr val="FFFFFF"/>
                </a:solidFill>
                <a:latin typeface="Inter"/>
              </a:rPr>
              <a:t>34,438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919" y="2610696"/>
            <a:ext cx="503950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E0F2FE"/>
                </a:solidFill>
                <a:latin typeface="Inter"/>
              </a:rPr>
              <a:t>Total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464" y="3097254"/>
            <a:ext cx="412685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FFFFFF"/>
                </a:solidFill>
                <a:latin typeface="Inter"/>
              </a:rPr>
              <a:t>Netflix: 31,991</a:t>
            </a:r>
            <a:r>
              <a:rPr dirty="0"/>
              <a:t>
</a:t>
            </a:r>
            <a:r>
              <a:rPr sz="1350" b="0" i="0" u="none" dirty="0">
                <a:solidFill>
                  <a:srgbClr val="FFFFFF"/>
                </a:solidFill>
                <a:latin typeface="Inter"/>
              </a:rPr>
              <a:t> Disney+: 1,447</a:t>
            </a:r>
            <a:r>
              <a:rPr dirty="0"/>
              <a:t>
</a:t>
            </a:r>
            <a:r>
              <a:rPr sz="1350" b="0" i="0" u="none" dirty="0">
                <a:solidFill>
                  <a:srgbClr val="FFFFFF"/>
                </a:solidFill>
                <a:latin typeface="Inter"/>
              </a:rPr>
              <a:t> Amazon Prime: 1,000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3433" y="4573843"/>
            <a:ext cx="526647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369A1"/>
                </a:solidFill>
                <a:latin typeface="Outfit"/>
              </a:rPr>
              <a:t>Data Quality &amp;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464" y="5986462"/>
            <a:ext cx="501569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64748B"/>
                </a:solidFill>
                <a:latin typeface="Inter"/>
              </a:rPr>
              <a:t>TOOLS &amp; LIBRARIES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8718" y="6243637"/>
            <a:ext cx="410780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334155"/>
                </a:solidFill>
                <a:latin typeface="Inter"/>
              </a:rPr>
              <a:t>Python • Pandas • NumPy • Matplotlib • Seaborn • Power BI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9213" y="4920584"/>
            <a:ext cx="4787093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334155"/>
                </a:solidFill>
                <a:latin typeface="Inter"/>
              </a:rPr>
              <a:t>Missing values handled &amp; duplicates removed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19213" y="5413920"/>
            <a:ext cx="4787093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334155"/>
                </a:solidFill>
                <a:latin typeface="Inter"/>
              </a:rPr>
              <a:t>Columns standardized</a:t>
            </a:r>
          </a:p>
        </p:txBody>
      </p:sp>
      <p:pic>
        <p:nvPicPr>
          <p:cNvPr id="21" name="object 3">
            <a:extLst>
              <a:ext uri="{FF2B5EF4-FFF2-40B4-BE49-F238E27FC236}">
                <a16:creationId xmlns:a16="http://schemas.microsoft.com/office/drawing/2014/main" id="{419A4BF7-1D12-11C4-BE1E-233790BF52F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3320" y="100511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924050"/>
            <a:ext cx="5105400" cy="4495800"/>
          </a:xfrm>
          <a:prstGeom prst="roundRect">
            <a:avLst>
              <a:gd name="adj" fmla="val 3389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324600" y="1924050"/>
            <a:ext cx="5105400" cy="4495800"/>
          </a:xfrm>
          <a:prstGeom prst="roundRect">
            <a:avLst>
              <a:gd name="adj" fmla="val 3389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6410325"/>
            <a:ext cx="5105400" cy="9525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1924050"/>
            <a:ext cx="5105400" cy="57150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2000" y="1924050"/>
            <a:ext cx="9525" cy="4495800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57875" y="1924050"/>
            <a:ext cx="9525" cy="4495800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324600" y="6410325"/>
            <a:ext cx="5105400" cy="9525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24600" y="1924050"/>
            <a:ext cx="5105400" cy="57150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24600" y="1924050"/>
            <a:ext cx="9525" cy="4495800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420475" y="1924050"/>
            <a:ext cx="9525" cy="4495800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2376487"/>
            <a:ext cx="3810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125" y="2376487"/>
            <a:ext cx="26670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525" y="3019425"/>
            <a:ext cx="95250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525" y="3524250"/>
            <a:ext cx="95250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525" y="4029075"/>
            <a:ext cx="9525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525" y="4533900"/>
            <a:ext cx="95250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125" y="3019425"/>
            <a:ext cx="95250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125" y="3524250"/>
            <a:ext cx="95250" cy="2000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125" y="4029075"/>
            <a:ext cx="95250" cy="2000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125" y="4533900"/>
            <a:ext cx="95250" cy="2000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125" y="5038725"/>
            <a:ext cx="95250" cy="2000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125" y="5543550"/>
            <a:ext cx="95250" cy="20002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62000" y="609600"/>
            <a:ext cx="11430000" cy="476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369A1"/>
                </a:solidFill>
                <a:latin typeface="Outfit"/>
              </a:rPr>
              <a:t>Requirements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85925" y="2362200"/>
            <a:ext cx="3887985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369A1"/>
                </a:solidFill>
                <a:latin typeface="Outfit"/>
              </a:rPr>
              <a:t>Hardware Requirements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7325" y="3000375"/>
            <a:ext cx="5100637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Processor: Intel Core i3 or above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57325" y="3505200"/>
            <a:ext cx="5100637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RAM: Minimum 4 GB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57325" y="4010025"/>
            <a:ext cx="5100637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Storage: Minimum 10 GB free space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57325" y="4514850"/>
            <a:ext cx="5100637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Stable internet connection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4225" y="2362200"/>
            <a:ext cx="3750468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369A1"/>
                </a:solidFill>
                <a:latin typeface="Outfit"/>
              </a:rPr>
              <a:t>Software Requirements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19925" y="3000375"/>
            <a:ext cx="5100637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Windows / Linux / macOS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19925" y="3505200"/>
            <a:ext cx="5100637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Python 3.x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19925" y="4010025"/>
            <a:ext cx="5100637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Google Colab / Jupyter Notebook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19925" y="4514850"/>
            <a:ext cx="5100637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Pandas and NumPy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19925" y="5019675"/>
            <a:ext cx="946991" cy="296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rgbClr val="334155"/>
                </a:solidFill>
                <a:latin typeface="Inter"/>
              </a:rPr>
              <a:t>Matplotlib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19925" y="5524500"/>
            <a:ext cx="5100637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Power BI &amp; Excel / CSV files</a:t>
            </a:r>
          </a:p>
        </p:txBody>
      </p:sp>
      <p:pic>
        <p:nvPicPr>
          <p:cNvPr id="38" name="object 3">
            <a:extLst>
              <a:ext uri="{FF2B5EF4-FFF2-40B4-BE49-F238E27FC236}">
                <a16:creationId xmlns:a16="http://schemas.microsoft.com/office/drawing/2014/main" id="{9C5F5E13-BAD9-7968-697B-D68BBBA8D6EA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0024" y="185262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657350"/>
            <a:ext cx="5181600" cy="2181225"/>
          </a:xfrm>
          <a:prstGeom prst="roundRect">
            <a:avLst>
              <a:gd name="adj" fmla="val 5240"/>
            </a:avLst>
          </a:prstGeom>
          <a:solidFill>
            <a:srgbClr val="FFFFFF"/>
          </a:solidFill>
          <a:ln w="9525">
            <a:solidFill>
              <a:srgbClr val="E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1657350"/>
            <a:ext cx="5181600" cy="2181225"/>
          </a:xfrm>
          <a:prstGeom prst="roundRect">
            <a:avLst>
              <a:gd name="adj" fmla="val 5240"/>
            </a:avLst>
          </a:prstGeom>
          <a:solidFill>
            <a:srgbClr val="FFFFFF"/>
          </a:solidFill>
          <a:ln w="9525">
            <a:solidFill>
              <a:srgbClr val="E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4143375"/>
            <a:ext cx="5181600" cy="2105025"/>
          </a:xfrm>
          <a:prstGeom prst="roundRect">
            <a:avLst>
              <a:gd name="adj" fmla="val 5429"/>
            </a:avLst>
          </a:prstGeom>
          <a:solidFill>
            <a:srgbClr val="FFFFFF"/>
          </a:solidFill>
          <a:ln w="9525">
            <a:solidFill>
              <a:srgbClr val="E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48400" y="4143375"/>
            <a:ext cx="5181600" cy="2105025"/>
          </a:xfrm>
          <a:prstGeom prst="roundRect">
            <a:avLst>
              <a:gd name="adj" fmla="val 5429"/>
            </a:avLst>
          </a:prstGeom>
          <a:solidFill>
            <a:srgbClr val="FFFFFF"/>
          </a:solidFill>
          <a:ln w="9525">
            <a:solidFill>
              <a:srgbClr val="E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76325" y="197167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62725" y="197167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76325" y="44577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62725" y="44577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2000" y="609600"/>
            <a:ext cx="11430000" cy="476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369A1"/>
                </a:solidFill>
                <a:latin typeface="Outfit"/>
              </a:rPr>
              <a:t>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162050"/>
            <a:ext cx="11430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PART 1: DATA PREPARATION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2505075"/>
            <a:ext cx="46482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• Load Netflix, Amazon Prime Video and Disney+ datasets.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2981325"/>
            <a:ext cx="56911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• Check the available files and required columns.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2505075"/>
            <a:ext cx="56292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• Check rows, columns and data types.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2781300"/>
            <a:ext cx="56292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• Understand the basic structure of each dataset.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325" y="4991100"/>
            <a:ext cx="56911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• Handle missing values.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6325" y="5267325"/>
            <a:ext cx="56911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• Remove duplicate records and unwanted entries.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2725" y="4991100"/>
            <a:ext cx="46482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Checking formats, data types, and inconsistent values. Remove duplicates and handle missing, clean dataset for analysis.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450" y="1971675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Outfit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9725" y="2028825"/>
            <a:ext cx="308788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369A1"/>
                </a:solidFill>
                <a:latin typeface="Outfit"/>
              </a:rPr>
              <a:t>Module 1 – Data Loading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850" y="1971675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Outfit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96125" y="2028825"/>
            <a:ext cx="488811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369A1"/>
                </a:solidFill>
                <a:latin typeface="Outfit"/>
              </a:rPr>
              <a:t>Module 2 – Data Acquisition &amp; Filtering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450" y="4457700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Outfit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9725" y="4514850"/>
            <a:ext cx="346293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369A1"/>
                </a:solidFill>
                <a:latin typeface="Outfit"/>
              </a:rPr>
              <a:t>Module 3 – Data Extracting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850" y="4457700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Outfi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6125" y="4514850"/>
            <a:ext cx="485060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369A1"/>
                </a:solidFill>
                <a:latin typeface="Outfit"/>
              </a:rPr>
              <a:t>Module 4 – Data Validation &amp; Cleaning</a:t>
            </a:r>
          </a:p>
        </p:txBody>
      </p:sp>
      <p:pic>
        <p:nvPicPr>
          <p:cNvPr id="28" name="object 3">
            <a:extLst>
              <a:ext uri="{FF2B5EF4-FFF2-40B4-BE49-F238E27FC236}">
                <a16:creationId xmlns:a16="http://schemas.microsoft.com/office/drawing/2014/main" id="{CF1B5A77-B578-7A34-6AE4-2FA26EBA787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3" y="168831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657350"/>
            <a:ext cx="5181600" cy="214312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1657350"/>
            <a:ext cx="5181600" cy="214312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4105275"/>
            <a:ext cx="5181600" cy="214312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48400" y="4105275"/>
            <a:ext cx="5181600" cy="214312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76325" y="197167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62725" y="197167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76325" y="44196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62725" y="44196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2000" y="609600"/>
            <a:ext cx="11430000" cy="476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369A1"/>
                </a:solidFill>
                <a:latin typeface="Outfit"/>
              </a:rPr>
              <a:t>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162050"/>
            <a:ext cx="11430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PART 2: ANALYSIS &amp; VISUALIZATION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2505075"/>
            <a:ext cx="46482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Study movies, TV shows, genres, ratings and countries. Summaries for easy comparison and interpretation by using bar graphs etc.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2505075"/>
            <a:ext cx="46482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Identify trends and patterns in the OTT data. Compare key factors like genres, ratings, and content types.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325" y="4953000"/>
            <a:ext cx="46482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Create charts and graphs to present the analysis clearly. Use dashboards and visuals to highlight key trends and insights.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4953000"/>
            <a:ext cx="46482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Summarize the key findings from the analysis. Interpret the results to identify useful trends and insights.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450" y="1971675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Outfit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9725" y="2028825"/>
            <a:ext cx="523815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369A1"/>
                </a:solidFill>
                <a:latin typeface="Outfit"/>
              </a:rPr>
              <a:t>Module 5 – Aggregation &amp; Representation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850" y="1971675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Outfit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96125" y="2028825"/>
            <a:ext cx="317539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369A1"/>
                </a:solidFill>
                <a:latin typeface="Outfit"/>
              </a:rPr>
              <a:t>Module 6 – Data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450" y="4419600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Outfit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9725" y="4476750"/>
            <a:ext cx="37754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369A1"/>
                </a:solidFill>
                <a:latin typeface="Outfit"/>
              </a:rPr>
              <a:t>Module 7 – Data Visualization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850" y="4419600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Outfit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6125" y="4476750"/>
            <a:ext cx="441305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369A1"/>
                </a:solidFill>
                <a:latin typeface="Outfit"/>
              </a:rPr>
              <a:t>Module 8 – Results &amp; Interpretation</a:t>
            </a:r>
          </a:p>
        </p:txBody>
      </p:sp>
      <p:pic>
        <p:nvPicPr>
          <p:cNvPr id="25" name="object 3">
            <a:extLst>
              <a:ext uri="{FF2B5EF4-FFF2-40B4-BE49-F238E27FC236}">
                <a16:creationId xmlns:a16="http://schemas.microsoft.com/office/drawing/2014/main" id="{4DB0C85E-C82A-72F1-ACE2-2FB9FB431E7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499" y="185262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2000" y="2233612"/>
            <a:ext cx="11430000" cy="676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200" b="1" i="0" u="none" dirty="0">
                <a:solidFill>
                  <a:srgbClr val="FFFFFF"/>
                </a:solidFill>
                <a:latin typeface="Outfit"/>
              </a:rPr>
              <a:t>Data Visualization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402733-B923-F9D9-91E4-BF1B436ECB93}"/>
              </a:ext>
            </a:extLst>
          </p:cNvPr>
          <p:cNvSpPr txBox="1"/>
          <p:nvPr/>
        </p:nvSpPr>
        <p:spPr>
          <a:xfrm>
            <a:off x="4332403" y="303840"/>
            <a:ext cx="609442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000" b="1" dirty="0">
                <a:solidFill>
                  <a:srgbClr val="0369A1"/>
                </a:solidFill>
                <a:latin typeface="Outfit"/>
              </a:rPr>
              <a:t> Data Visualizations</a:t>
            </a:r>
            <a:endParaRPr lang="en-IN" sz="3000" b="1" i="0" u="none" dirty="0">
              <a:solidFill>
                <a:srgbClr val="0369A1"/>
              </a:solidFill>
              <a:latin typeface="Outfi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3EF145-93B3-1BE8-A152-AF110D2160FF}"/>
              </a:ext>
            </a:extLst>
          </p:cNvPr>
          <p:cNvSpPr/>
          <p:nvPr/>
        </p:nvSpPr>
        <p:spPr>
          <a:xfrm>
            <a:off x="4504440" y="875120"/>
            <a:ext cx="934825" cy="45719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9A8B6E6-E8AF-9227-02E3-7DF05FED1F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99" y="1061039"/>
            <a:ext cx="4905866" cy="279696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14EE334-34D1-1DC0-70C6-1D3F4DA7A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381" y="920839"/>
            <a:ext cx="5158697" cy="279877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5064F4B-B89C-5BD2-AFF9-94EA328FEB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99" y="3971135"/>
            <a:ext cx="4905866" cy="274370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584C578-7A3E-FB7A-B575-912209E32A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3705" y="3712779"/>
            <a:ext cx="5738048" cy="3142257"/>
          </a:xfrm>
          <a:prstGeom prst="rect">
            <a:avLst/>
          </a:prstGeom>
        </p:spPr>
      </p:pic>
      <p:pic>
        <p:nvPicPr>
          <p:cNvPr id="24" name="object 3">
            <a:extLst>
              <a:ext uri="{FF2B5EF4-FFF2-40B4-BE49-F238E27FC236}">
                <a16:creationId xmlns:a16="http://schemas.microsoft.com/office/drawing/2014/main" id="{3E651048-A283-BDCF-B94C-5B9EB50ACFAB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0499" y="204311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314450"/>
            <a:ext cx="6096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262187"/>
            <a:ext cx="95250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767012"/>
            <a:ext cx="9525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271837"/>
            <a:ext cx="9525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776662"/>
            <a:ext cx="9525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595812"/>
            <a:ext cx="9525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100637"/>
            <a:ext cx="95250" cy="2000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609600"/>
            <a:ext cx="11430000" cy="476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0369A1"/>
                </a:solidFill>
                <a:latin typeface="Outfit"/>
              </a:rPr>
              <a:t>Key Insights &amp;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2243137"/>
            <a:ext cx="11125200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The three cleaned datasets contain a total of 34,438 OTT records.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2747962"/>
            <a:ext cx="11125200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Netflix has 31,991 records, followed by Disney+ with 1,447 and Amazon Prime with 1,000.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3252787"/>
            <a:ext cx="11125200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Netflix contains 16,000 movies and 15,991 TV shows, showing a nearly equal split.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3757612"/>
            <a:ext cx="104584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In the Netflix dataset, Drama is the most common primary genre with 8,666 titles, followed by Comedy with 4,677.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4576762"/>
            <a:ext cx="11125200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Amazon Prime has 520 TV shows and 480 movies. Disney+ has 1,052 movies and 395 TV shows.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" y="5081587"/>
            <a:ext cx="11125200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These patterns help us compare platforms and understand how OTT content is distributed.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2DD707ED-701E-A659-7C83-F6591D9A57F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0499" y="168831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352675" y="4229100"/>
            <a:ext cx="7486650" cy="742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9275" y="4495800"/>
            <a:ext cx="180975" cy="209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1825" y="4495800"/>
            <a:ext cx="180975" cy="209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609600"/>
            <a:ext cx="11430000" cy="476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369A1"/>
                </a:solidFill>
                <a:latin typeface="Outfit"/>
              </a:rPr>
              <a:t>Implementation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62050"/>
            <a:ext cx="11430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FROM RAW OTT DATA TO USEFUL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6833" y="4476750"/>
            <a:ext cx="6098336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IN" sz="1200" b="1" i="0" u="none" dirty="0">
                <a:solidFill>
                  <a:srgbClr val="64748B"/>
                </a:solidFill>
                <a:latin typeface="Inter"/>
              </a:rPr>
              <a:t>       </a:t>
            </a:r>
            <a:r>
              <a:rPr sz="1650" b="1" i="0" u="none" dirty="0">
                <a:solidFill>
                  <a:srgbClr val="0369A1"/>
                </a:solidFill>
                <a:latin typeface="Inter"/>
              </a:rPr>
              <a:t> Cleaned data</a:t>
            </a:r>
            <a:r>
              <a:rPr lang="en-IN" sz="1650" b="1" dirty="0">
                <a:solidFill>
                  <a:srgbClr val="0369A1"/>
                </a:solidFill>
                <a:latin typeface="Inter"/>
              </a:rPr>
              <a:t>set          </a:t>
            </a:r>
            <a:r>
              <a:rPr lang="en-IN" sz="1650" b="1" i="0" u="none" dirty="0">
                <a:solidFill>
                  <a:srgbClr val="0369A1"/>
                </a:solidFill>
                <a:latin typeface="Inter"/>
              </a:rPr>
              <a:t>                </a:t>
            </a:r>
            <a:r>
              <a:rPr sz="1650" b="1" i="0" u="none" dirty="0">
                <a:solidFill>
                  <a:srgbClr val="0369A1"/>
                </a:solidFill>
                <a:latin typeface="Inter"/>
              </a:rPr>
              <a:t>Charts</a:t>
            </a:r>
            <a:r>
              <a:rPr lang="en-IN" sz="1650" b="1" i="0" u="none" dirty="0">
                <a:solidFill>
                  <a:srgbClr val="0369A1"/>
                </a:solidFill>
                <a:latin typeface="Inter"/>
              </a:rPr>
              <a:t>              </a:t>
            </a:r>
            <a:r>
              <a:rPr sz="1650" b="1" i="0" u="none" dirty="0">
                <a:solidFill>
                  <a:srgbClr val="0369A1"/>
                </a:solidFill>
                <a:latin typeface="Inter"/>
              </a:rPr>
              <a:t>     Actionable insights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3162300"/>
            <a:ext cx="9906000" cy="38100"/>
          </a:xfrm>
          <a:prstGeom prst="rect">
            <a:avLst/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81100" y="29337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048000" y="29337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914900" y="29337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781800" y="29337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648700" y="29337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15600" y="29337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38225" y="2933700"/>
            <a:ext cx="781050" cy="495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Outfit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5312" y="3581400"/>
            <a:ext cx="16668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34155"/>
                </a:solidFill>
                <a:latin typeface="Inter"/>
              </a:rPr>
              <a:t>Data Collection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5125" y="2933700"/>
            <a:ext cx="781050" cy="495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Outfit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2212" y="3581400"/>
            <a:ext cx="16668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34155"/>
                </a:solidFill>
                <a:latin typeface="Inter"/>
              </a:rPr>
              <a:t>Data Cleaning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2025" y="2933700"/>
            <a:ext cx="781050" cy="495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Outfi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9112" y="3581400"/>
            <a:ext cx="16668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34155"/>
                </a:solidFill>
                <a:latin typeface="Inter"/>
              </a:rPr>
              <a:t>Pre-processing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925" y="2933700"/>
            <a:ext cx="781050" cy="495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Outfit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6012" y="3581400"/>
            <a:ext cx="16668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34155"/>
                </a:solidFill>
                <a:latin typeface="Inter"/>
              </a:rPr>
              <a:t>EDA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5825" y="2933700"/>
            <a:ext cx="781050" cy="495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Outfit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2912" y="3581400"/>
            <a:ext cx="16668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34155"/>
                </a:solidFill>
                <a:latin typeface="Inter"/>
              </a:rPr>
              <a:t>Visualization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72725" y="2933700"/>
            <a:ext cx="781050" cy="495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Outfit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9812" y="3581400"/>
            <a:ext cx="16668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34155"/>
                </a:solidFill>
                <a:latin typeface="Inter"/>
              </a:rPr>
              <a:t>Insights &amp; Report</a:t>
            </a:r>
          </a:p>
        </p:txBody>
      </p:sp>
      <p:pic>
        <p:nvPicPr>
          <p:cNvPr id="28" name="object 3">
            <a:extLst>
              <a:ext uri="{FF2B5EF4-FFF2-40B4-BE49-F238E27FC236}">
                <a16:creationId xmlns:a16="http://schemas.microsoft.com/office/drawing/2014/main" id="{E31AC5D3-31CD-21C1-E929-304A7914FD7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0499" y="172757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34075" y="1543050"/>
            <a:ext cx="5495925" cy="5181600"/>
          </a:xfrm>
          <a:prstGeom prst="roundRect">
            <a:avLst>
              <a:gd name="adj" fmla="val 2941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34075" y="6715125"/>
            <a:ext cx="5495925" cy="9525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34075" y="1543050"/>
            <a:ext cx="5495925" cy="57150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34075" y="1543050"/>
            <a:ext cx="9525" cy="5181600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420475" y="1543050"/>
            <a:ext cx="9525" cy="5181600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324600" y="5000625"/>
            <a:ext cx="4714875" cy="9525"/>
          </a:xfrm>
          <a:prstGeom prst="rect">
            <a:avLst/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562100"/>
            <a:ext cx="9525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381250"/>
            <a:ext cx="9525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200400"/>
            <a:ext cx="9525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019550"/>
            <a:ext cx="9525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838700"/>
            <a:ext cx="9525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562225"/>
            <a:ext cx="9525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3381375"/>
            <a:ext cx="95250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4200525"/>
            <a:ext cx="95250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5019675"/>
            <a:ext cx="95250" cy="2000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62000" y="609600"/>
            <a:ext cx="11430000" cy="476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369A1"/>
                </a:solidFill>
                <a:latin typeface="Outfit"/>
              </a:rPr>
              <a:t>Conclusion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600" y="1981200"/>
            <a:ext cx="58674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369A1"/>
                </a:solidFill>
                <a:latin typeface="Outfit"/>
              </a:rPr>
              <a:t>Future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6800" y="1543050"/>
            <a:ext cx="450532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This project shows how OTT datasets can be cleaned and analyzed using Python.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6800" y="2362200"/>
            <a:ext cx="450532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We combined information from Netflix, Amazon Prime Video and Disney+.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6800" y="3181350"/>
            <a:ext cx="450532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The analysis helped us compare platforms, content types and genres.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6800" y="4000500"/>
            <a:ext cx="450532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Charts made the main patterns easier to understand.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6800" y="4819650"/>
            <a:ext cx="4505325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The project also shows how data analysis can support better content-related decisions.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543175"/>
            <a:ext cx="450532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Add more OTT platforms and newer datasets.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362325"/>
            <a:ext cx="450532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Build recommendation models using machine learning.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181475"/>
            <a:ext cx="450532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Study viewer ratings, reviews and engagement in more detail.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5191125"/>
            <a:ext cx="4505325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0284C7"/>
                </a:solidFill>
                <a:latin typeface="Inter"/>
              </a:rPr>
              <a:t>Apply these same steps to larger datasets, live data sources, and predictive modelling.</a:t>
            </a:r>
          </a:p>
        </p:txBody>
      </p:sp>
      <p:pic>
        <p:nvPicPr>
          <p:cNvPr id="29" name="object 3">
            <a:extLst>
              <a:ext uri="{FF2B5EF4-FFF2-40B4-BE49-F238E27FC236}">
                <a16:creationId xmlns:a16="http://schemas.microsoft.com/office/drawing/2014/main" id="{C1459EF0-BBA9-89F7-AE99-F75EDAFE55A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1641" y="185262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67855" y="1999615"/>
            <a:ext cx="6656294" cy="2764028"/>
          </a:xfrm>
          <a:prstGeom prst="rect">
            <a:avLst/>
          </a:prstGeom>
        </p:spPr>
        <p:txBody>
          <a:bodyPr vert="horz" lIns="80682" tIns="40341" rIns="80682" bIns="40341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18"/>
              </a:spcAft>
              <a:defRPr sz="3400" b="1">
                <a:solidFill>
                  <a:srgbClr val="233464"/>
                </a:solidFill>
                <a:latin typeface="Aptos"/>
              </a:defRPr>
            </a:pPr>
            <a:r>
              <a:rPr lang="en-US" sz="3177" dirty="0">
                <a:latin typeface="Times New Roman" pitchFamily="18" charset="0"/>
                <a:ea typeface="+mj-ea"/>
                <a:cs typeface="Times New Roman" pitchFamily="18" charset="0"/>
              </a:rPr>
              <a:t>THANK YOU</a:t>
            </a:r>
          </a:p>
        </p:txBody>
      </p:sp>
      <p:pic>
        <p:nvPicPr>
          <p:cNvPr id="8" name="object 3">
            <a:extLst>
              <a:ext uri="{FF2B5EF4-FFF2-40B4-BE49-F238E27FC236}">
                <a16:creationId xmlns:a16="http://schemas.microsoft.com/office/drawing/2014/main" id="{A36E30A8-BD1B-0058-4620-F390351DADB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617" y="180274"/>
            <a:ext cx="1563476" cy="37441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626659" y="4276165"/>
            <a:ext cx="7968848" cy="3096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41"/>
              </a:spcAft>
              <a:defRPr sz="1600" b="1">
                <a:solidFill>
                  <a:srgbClr val="141414"/>
                </a:solidFill>
                <a:latin typeface="Georgia"/>
              </a:defRPr>
            </a:pPr>
            <a:r>
              <a:rPr sz="1412"/>
              <a:t>Ch . Kusumitha Keerthi  |  Praveen Goswami  |  A . Aparajitha  |  K . Harsha Vardhan</a:t>
            </a:r>
          </a:p>
        </p:txBody>
      </p:sp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1094</Words>
  <Application>Microsoft Office PowerPoint</Application>
  <PresentationFormat>Widescreen</PresentationFormat>
  <Paragraphs>162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Palatino Linotype</vt:lpstr>
      <vt:lpstr>Inter</vt:lpstr>
      <vt:lpstr>Calibri</vt:lpstr>
      <vt:lpstr>Times New Roman</vt:lpstr>
      <vt:lpstr>Outfit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 laptop</dc:creator>
  <cp:keywords/>
  <dc:description>generated using python-pptx</dc:description>
  <cp:lastModifiedBy>lenovo laptop</cp:lastModifiedBy>
  <cp:revision>2</cp:revision>
  <dcterms:created xsi:type="dcterms:W3CDTF">2013-01-27T09:14:16Z</dcterms:created>
  <dcterms:modified xsi:type="dcterms:W3CDTF">2026-09-30T03:12:37Z</dcterms:modified>
  <cp:category/>
</cp:coreProperties>
</file>