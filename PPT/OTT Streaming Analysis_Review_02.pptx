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</p:sldIdLst>
  <p:sldSz cx="12192000" cy="6858000" type="screen4x3"/>
  <p:notesSz cx="6858000" cy="9144000"/>
  <p:embeddedFontLst>
    <p:embeddedFont>
      <p:font typeface="汉仪力量黑简" panose="00020600040101010101" charset="-122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4856480"/>
            <a:ext cx="10621645" cy="1066800"/>
          </a:xfrm>
          <a:prstGeom prst="rect">
            <a:avLst/>
          </a:prstGeom>
        </p:spPr>
      </p:pic>
      <p:sp>
        <p:nvSpPr>
          <p:cNvPr id="4" name="TextBox 3" descr="7b0a2020202022776f7264617274223a2022220a7d0a"/>
          <p:cNvSpPr txBox="1"/>
          <p:nvPr/>
        </p:nvSpPr>
        <p:spPr>
          <a:xfrm>
            <a:off x="1610439" y="2363241"/>
            <a:ext cx="8971121" cy="73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u="none">
                <a:latin typeface="American Typewriter Regular" panose="02090604020004020304" charset="0"/>
                <a:ea typeface="汉仪力量黑简" panose="00020600040101010101" charset="-122"/>
                <a:cs typeface="American Typewriter Regular" panose="02090604020004020304" charset="0"/>
                <a:sym typeface="汉仪力量黑简" panose="00020600040101010101" charset="-122"/>
              </a:rPr>
              <a:t>OTT STREAMING ANALYTICS</a:t>
            </a:r>
            <a:endParaRPr sz="4800" u="none">
              <a:latin typeface="American Typewriter Regular" panose="02090604020004020304" charset="0"/>
              <a:ea typeface="汉仪力量黑简" panose="00020600040101010101" charset="-122"/>
              <a:cs typeface="American Typewriter Regular" panose="02090604020004020304" charset="0"/>
              <a:sym typeface="汉仪力量黑简" panose="0002060004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2420" y="3458845"/>
            <a:ext cx="648652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sz="1800" b="0" i="0" u="none">
                <a:solidFill>
                  <a:srgbClr val="334155"/>
                </a:solidFill>
                <a:latin typeface="Lato"/>
              </a:rPr>
              <a:t>Department of Computer Science &amp; Engineering</a:t>
            </a:r>
            <a:endParaRPr sz="18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1695" y="4001770"/>
            <a:ext cx="284924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sz="1800" b="1" i="0" u="none">
                <a:solidFill>
                  <a:srgbClr val="0F172A"/>
                </a:solidFill>
                <a:latin typeface="Lato"/>
              </a:rPr>
              <a:t>Aditya</a:t>
            </a:r>
            <a:r>
              <a:rPr lang="en-US" sz="1800" b="1" i="0" u="none">
                <a:solidFill>
                  <a:srgbClr val="0F172A"/>
                </a:solidFill>
                <a:latin typeface="Lato"/>
              </a:rPr>
              <a:t> </a:t>
            </a:r>
            <a:r>
              <a:rPr sz="1800" b="1" i="0" u="none">
                <a:solidFill>
                  <a:srgbClr val="0F172A"/>
                </a:solidFill>
                <a:latin typeface="Lato"/>
              </a:rPr>
              <a:t>University</a:t>
            </a:r>
            <a:endParaRPr sz="1800" b="1" i="0" u="none">
              <a:solidFill>
                <a:srgbClr val="0F172A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16805" y="5056733"/>
            <a:ext cx="599074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2563EB"/>
                </a:solidFill>
                <a:latin typeface="Poppins SemiBold"/>
              </a:rPr>
              <a:t>Contributors</a:t>
            </a:r>
            <a:endParaRPr sz="150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3262" y="5418683"/>
            <a:ext cx="5705475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endParaRPr sz="1500" b="0" i="0" u="none">
              <a:solidFill>
                <a:srgbClr val="334155"/>
              </a:solidFill>
              <a:latin typeface="Lato SemiBold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165225" y="5418455"/>
            <a:ext cx="9862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>
                <a:solidFill>
                  <a:srgbClr val="2563EB"/>
                </a:solidFill>
                <a:latin typeface="Lato SemiBold"/>
                <a:sym typeface="+mn-ea"/>
              </a:rPr>
              <a:t>Ch.</a:t>
            </a:r>
            <a:r>
              <a:rPr lang="en-US">
                <a:solidFill>
                  <a:srgbClr val="2563EB"/>
                </a:solidFill>
                <a:latin typeface="Lato SemiBold"/>
                <a:sym typeface="+mn-ea"/>
              </a:rPr>
              <a:t>Kusumitha </a:t>
            </a:r>
            <a:r>
              <a:rPr>
                <a:solidFill>
                  <a:srgbClr val="2563EB"/>
                </a:solidFill>
                <a:latin typeface="Lato SemiBold"/>
                <a:sym typeface="+mn-ea"/>
              </a:rPr>
              <a:t>Keerthi  |  Praveen Goswami  |  A.</a:t>
            </a:r>
            <a:r>
              <a:rPr lang="en-US">
                <a:solidFill>
                  <a:srgbClr val="2563EB"/>
                </a:solidFill>
                <a:latin typeface="Lato SemiBold"/>
                <a:sym typeface="+mn-ea"/>
              </a:rPr>
              <a:t> </a:t>
            </a:r>
            <a:r>
              <a:rPr>
                <a:solidFill>
                  <a:srgbClr val="2563EB"/>
                </a:solidFill>
                <a:latin typeface="Lato SemiBold"/>
                <a:sym typeface="+mn-ea"/>
              </a:rPr>
              <a:t>Aparajitha  |  K. Harsha Vardhan</a:t>
            </a:r>
            <a:endParaRPr lang="en-US"/>
          </a:p>
        </p:txBody>
      </p:sp>
      <p:pic>
        <p:nvPicPr>
          <p:cNvPr id="12" name="Picture 11" descr="Screenshot 2026-08-11 at 6.34.09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0" y="537845"/>
            <a:ext cx="8140700" cy="109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25" y="2000250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10900" y="285750"/>
            <a:ext cx="8001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200" b="0" i="0" u="none">
              <a:solidFill>
                <a:srgbClr val="94A3B8"/>
              </a:solidFill>
              <a:latin typeface="Lato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Poppins SemiBold"/>
              </a:rPr>
              <a:t>Problem Statement</a:t>
            </a:r>
            <a:endParaRPr sz="3000" b="1" i="0" u="none"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625" y="1390650"/>
            <a:ext cx="5048250" cy="92329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90204" pitchFamily="34" charset="0"/>
              <a:buChar char="•"/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Rapid Growth: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The expansion of OTT platforms has drastically increased digital content and user engagement.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2395855"/>
            <a:ext cx="5048250" cy="92329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90204" pitchFamily="34" charset="0"/>
              <a:buChar char="•"/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Data Management Challenge: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Managing and analyzing massive volumes of streaming data is increasingly difficult.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9625" y="3352165"/>
            <a:ext cx="5048250" cy="92329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90204" pitchFamily="34" charset="0"/>
              <a:buChar char="•"/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Viewer Behavior: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It is challenging to accurately understand complex viewer preferences and changing audience habits.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625" y="4257675"/>
            <a:ext cx="5048250" cy="92329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90204" pitchFamily="34" charset="0"/>
              <a:buChar char="•"/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Recommendation Accuracy: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 lack of robust data analysis directly affects the precision of content recommendations.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" y="5313680"/>
            <a:ext cx="5048250" cy="92329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90204" pitchFamily="34" charset="0"/>
              <a:buChar char="•"/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Business Impact: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Poor insights can lead to ineffective content production strategies and suboptimal investment decisions.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00250"/>
            <a:ext cx="5286375" cy="3810000"/>
          </a:xfrm>
          <a:prstGeom prst="rect">
            <a:avLst/>
          </a:prstGeom>
        </p:spPr>
      </p:pic>
      <p:pic>
        <p:nvPicPr>
          <p:cNvPr id="16" name="Picture 15" descr="Screenshot 2026-08-11 at 6.33.43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9390" y="203200"/>
            <a:ext cx="156273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043112"/>
            <a:ext cx="3429000" cy="3724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2043112"/>
            <a:ext cx="3429000" cy="3724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043112"/>
            <a:ext cx="3429000" cy="3724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Poppins SemiBold"/>
              </a:rPr>
              <a:t>Project Objectives</a:t>
            </a:r>
            <a:endParaRPr sz="3000" b="1" i="0" u="none">
              <a:latin typeface="Poppi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0819" y="3167062"/>
            <a:ext cx="289036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F172A"/>
                </a:solidFill>
                <a:latin typeface="Poppins SemiBold"/>
              </a:rPr>
              <a:t>Analyze Preferences</a:t>
            </a:r>
            <a:endParaRPr sz="2100" b="0" i="0" u="none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370998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Analyze OTT streaming data to understand viewer preferences and watching behavior, identifying popular genres, movies, and TV shows.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55857" y="3167062"/>
            <a:ext cx="22802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F172A"/>
                </a:solidFill>
                <a:latin typeface="Poppins SemiBold"/>
              </a:rPr>
              <a:t>Examine Trends</a:t>
            </a:r>
            <a:endParaRPr sz="2100" b="0" i="0" u="none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6775" y="370998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Examine content trends across different countries and release years, comparing performance using ratings, popularity, and engagement.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10863" y="3167062"/>
            <a:ext cx="219027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F172A"/>
                </a:solidFill>
                <a:latin typeface="Poppins SemiBold"/>
              </a:rPr>
              <a:t>Drive Decisions</a:t>
            </a:r>
            <a:endParaRPr sz="2100" b="0" i="0" u="none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86775" y="370998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Create interactive visualizations to present key insights effectively, supporting data-driven decision-making and better recommendations.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825" y="2481262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2481262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4550" y="2481262"/>
            <a:ext cx="342900" cy="457200"/>
          </a:xfrm>
          <a:prstGeom prst="rect">
            <a:avLst/>
          </a:prstGeom>
        </p:spPr>
      </p:pic>
      <p:pic>
        <p:nvPicPr>
          <p:cNvPr id="16" name="Picture 15" descr="Screenshot 2026-08-11 at 6.33.43 A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9390" y="203200"/>
            <a:ext cx="156273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71500" y="466725"/>
            <a:ext cx="116014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Poppins SemiBold"/>
              </a:rPr>
              <a:t>Tech Stack</a:t>
            </a:r>
            <a:endParaRPr sz="3000" b="1" i="0" u="none">
              <a:latin typeface="Poppins Semi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1500" y="1419225"/>
            <a:ext cx="5381625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90625" y="1543050"/>
            <a:ext cx="4524375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Python: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Data cleaning, preprocessing, and</a:t>
            </a:r>
            <a:r>
              <a:rPr lang="en-US" sz="1500" b="0" i="0" u="none">
                <a:solidFill>
                  <a:srgbClr val="334155"/>
                </a:solidFill>
                <a:latin typeface="Lato"/>
              </a:rPr>
              <a:t> analysis.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38875" y="1419225"/>
            <a:ext cx="5381625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57350"/>
            <a:ext cx="4524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Pandas: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Data manipulation and handling datasets.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1500" y="2505075"/>
            <a:ext cx="5381625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0625" y="2743200"/>
            <a:ext cx="452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NumPy: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Numerical calculations and data processing.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38875" y="2505075"/>
            <a:ext cx="5381625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452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Matplotlib &amp; Seaborn: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Creating static charts and visualizations.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1500" y="3895725"/>
            <a:ext cx="5381625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0625" y="4133850"/>
            <a:ext cx="452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Power BI: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Interactive dashboards and visual data exploration.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38875" y="3895725"/>
            <a:ext cx="5381625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133850"/>
            <a:ext cx="452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Excel / CSV: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Dataset storage and initial preparation.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1500" y="5286375"/>
            <a:ext cx="5381625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0625" y="5524500"/>
            <a:ext cx="452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Jupyter Notebook: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Writing and executing Python analysis.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38875" y="5286375"/>
            <a:ext cx="5381625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524500"/>
            <a:ext cx="452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Git/GitHub: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Project version control and code management.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22098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8875" y="22098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" y="36004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8875" y="36004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49911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8875" y="49911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" y="63817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8875" y="63817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662112"/>
            <a:ext cx="200025" cy="2381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1657350"/>
            <a:ext cx="228600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743200"/>
            <a:ext cx="171450" cy="247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743200"/>
            <a:ext cx="228600" cy="247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133850"/>
            <a:ext cx="228600" cy="2476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4133850"/>
            <a:ext cx="171450" cy="2476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5524500"/>
            <a:ext cx="200025" cy="247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5529262"/>
            <a:ext cx="219075" cy="238125"/>
          </a:xfrm>
          <a:prstGeom prst="rect">
            <a:avLst/>
          </a:prstGeom>
        </p:spPr>
      </p:pic>
      <p:pic>
        <p:nvPicPr>
          <p:cNvPr id="2" name="Picture 1" descr="Screenshot 2026-08-11 at 6.33.43 A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9390" y="203200"/>
            <a:ext cx="156273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85887"/>
            <a:ext cx="5286375" cy="5038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385887"/>
            <a:ext cx="5286375" cy="5038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10900" y="285750"/>
            <a:ext cx="8001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200" b="0" i="0" u="none">
              <a:solidFill>
                <a:srgbClr val="94A3B8"/>
              </a:solidFill>
              <a:latin typeface="Lato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433387"/>
            <a:ext cx="116014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Poppins SemiBold"/>
              </a:rPr>
              <a:t>Dataset Details</a:t>
            </a:r>
            <a:endParaRPr sz="3000" b="1" i="0" u="none"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9391" y="1776412"/>
            <a:ext cx="4730591" cy="400050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2563EB"/>
                </a:solidFill>
                <a:latin typeface="Poppins SemiBold"/>
              </a:rPr>
              <a:t>Source &amp; Scope</a:t>
            </a:r>
            <a:endParaRPr sz="210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12016" y="1776412"/>
            <a:ext cx="4730591" cy="4000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2563EB"/>
                </a:solidFill>
                <a:latin typeface="Poppins SemiBold"/>
              </a:rPr>
              <a:t>Attributes &amp; Preparation</a:t>
            </a:r>
            <a:endParaRPr sz="2100" b="0" i="0" u="none">
              <a:solidFill>
                <a:srgbClr val="2563EB"/>
              </a:solidFill>
              <a:latin typeface="Poppins SemiBold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50" y="1833562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50" y="241458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00150" y="2414587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Data Sources: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Cleaned datasets from Netflix, Amazon Prime Video, and Disney+.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5850" y="31670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00150" y="3167062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Total Records: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Over 34,000+ OTT movies and TV shows analyzed.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5850" y="391953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0150" y="3919537"/>
            <a:ext cx="4267200" cy="12192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Platform Breakdown: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- Netflix: 31,991 records 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- Disney+: 1,447 records 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- Amazon Prime: 1,000 records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5850" y="528161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00150" y="5281612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Content Types: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Includes both Movies and TV Shows.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0" y="1833562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48475" y="241458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62775" y="2414587"/>
            <a:ext cx="4267200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Key Attributes: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Title, Type, Genre, Release Year, Country, Language, Rating, Popularity, Vote Count, Budget, Revenue, and Duration.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8475" y="34718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62775" y="3471862"/>
            <a:ext cx="4267200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Data Preparation: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Handled missing values, removed duplicate records, and standardized columns to ensure optimal data quality.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48475" y="452913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62775" y="4529137"/>
            <a:ext cx="4267200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Purpose: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Used to analyze viewer trends, content performance, and audience preferences via interactive dashboards.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pic>
        <p:nvPicPr>
          <p:cNvPr id="24" name="Picture 23" descr="Screenshot 2026-08-11 at 6.33.43 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9390" y="203200"/>
            <a:ext cx="156273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04987"/>
            <a:ext cx="5286375" cy="4200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804987"/>
            <a:ext cx="5286375" cy="420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10900" y="285750"/>
            <a:ext cx="8001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200" b="0" i="0" u="none">
              <a:solidFill>
                <a:srgbClr val="94A3B8"/>
              </a:solidFill>
              <a:latin typeface="Lato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Poppins SemiBold"/>
              </a:rPr>
              <a:t>System Requirements</a:t>
            </a:r>
            <a:endParaRPr sz="3000" b="1" i="0" u="none"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9391" y="2195512"/>
            <a:ext cx="4730591" cy="4000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2563EB"/>
                </a:solidFill>
                <a:latin typeface="Poppins SemiBold"/>
              </a:rPr>
              <a:t>Hardware</a:t>
            </a:r>
            <a:endParaRPr sz="210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12016" y="2195512"/>
            <a:ext cx="4730591" cy="400050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2563EB"/>
                </a:solidFill>
                <a:latin typeface="Poppins SemiBold"/>
              </a:rPr>
              <a:t>Software</a:t>
            </a:r>
            <a:endParaRPr sz="2100" b="0" i="0" u="none">
              <a:solidFill>
                <a:srgbClr val="2563EB"/>
              </a:solidFill>
              <a:latin typeface="Poppins SemiBold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5" y="2252662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2025" y="28336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Processor: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Intel Core i3 or equivalent and above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2025" y="33289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RAM: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Minimum 4 GB; 8 GB recommended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2025" y="38242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Storage: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Minimum 10 GB of free space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2025" y="43195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Display: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1366 × 768 resolution or higher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2025" y="48148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Internet: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Stable connection for downloading tools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587" y="2252662"/>
            <a:ext cx="33337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4650" y="28336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OS: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Windows 10/11, Linux, or macOS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4650" y="33289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Programming: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Python 3.x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4650" y="38242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Data Tools: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Pandas, NumPy, Matplotlib, Seaborn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24650" y="4319587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Environment: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Google Colab or VS Code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4650" y="4814887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Browser: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Google Chrome, Microsoft Edge, or equivalent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pic>
        <p:nvPicPr>
          <p:cNvPr id="20" name="Picture 19" descr="Screenshot 2026-08-11 at 6.33.43 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9390" y="203200"/>
            <a:ext cx="156273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0900" y="285750"/>
            <a:ext cx="8001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200" b="0" i="0" u="none">
              <a:solidFill>
                <a:srgbClr val="94A3B8"/>
              </a:solidFill>
              <a:latin typeface="Lato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116014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Poppins SemiBold"/>
              </a:rPr>
              <a:t>Future Enhancements</a:t>
            </a:r>
            <a:endParaRPr sz="3000" b="1" i="0" u="none">
              <a:latin typeface="Poppins Semi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1500" y="160020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375" y="1743075"/>
            <a:ext cx="1038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Real-Time Analytics: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Analyze viewer activity and streaming trends in real time.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1500" y="240030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2543175"/>
            <a:ext cx="1038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AI-Based Recommendations: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Use Machine Learning to provide highly personalized content recommendations.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1500" y="320040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3343275"/>
            <a:ext cx="1038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Predictive Analytics: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Predict future viewer preferences, popular genres, and content demand.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1500" y="400050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4143375"/>
            <a:ext cx="1038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Sentiment Analysis: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Analyze user reviews and feedback to understand audience satisfaction levels.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1500" y="480060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943475"/>
            <a:ext cx="1038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Advanced User Segmentation: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Group viewers based on interests, location, viewing habits, and preferences.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1500" y="560070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5743575"/>
            <a:ext cx="1038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Cross-Platform Analysis: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Compare content performance dynamically across multiple OTT platforms.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22002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30003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38004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6005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4006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6200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" y="1762125"/>
            <a:ext cx="20002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562225"/>
            <a:ext cx="28575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362325"/>
            <a:ext cx="22860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162425"/>
            <a:ext cx="228600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962525"/>
            <a:ext cx="28575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5762625"/>
            <a:ext cx="257175" cy="247650"/>
          </a:xfrm>
          <a:prstGeom prst="rect">
            <a:avLst/>
          </a:prstGeom>
        </p:spPr>
      </p:pic>
      <p:pic>
        <p:nvPicPr>
          <p:cNvPr id="28" name="Picture 27" descr="Screenshot 2026-08-11 at 6.33.43 A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9390" y="203200"/>
            <a:ext cx="156273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71500" y="952500"/>
            <a:ext cx="5550693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Poppins SemiBold"/>
              </a:rPr>
              <a:t>Conclusion</a:t>
            </a:r>
            <a:endParaRPr sz="3000" b="1" i="0" u="none">
              <a:latin typeface="Poppins SemiBold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05000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The project successfully analyzes OTT streaming data to identify important viewing trends, popular genres, top-rated content, and audience preferences.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3048000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Interactive dashboards make complex streaming data easy to understand and interpret, providing useful insights into viewer behavior and regional preferences.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191000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Overall, OTT Streaming Analytics demonstrates how data-driven insights can support better content recommendations, improve user satisfaction, and help platforms make decisions about content creation and investment.</a:t>
            </a:r>
            <a:endParaRPr sz="1500" b="0" i="0" u="none">
              <a:solidFill>
                <a:srgbClr val="334155"/>
              </a:solidFill>
              <a:latin typeface="Lato"/>
            </a:endParaRPr>
          </a:p>
        </p:txBody>
      </p:sp>
      <p:pic>
        <p:nvPicPr>
          <p:cNvPr id="16" name="Picture 15" descr="Screenshot 2026-08-11 at 6.33.4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390" y="203200"/>
            <a:ext cx="156273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1030" y="4086225"/>
            <a:ext cx="8371205" cy="13100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603176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2563EB"/>
                </a:solidFill>
                <a:latin typeface="Poppins"/>
              </a:rPr>
              <a:t>Thank You!</a:t>
            </a:r>
            <a:endParaRPr sz="6000" b="1" i="0" u="none">
              <a:solidFill>
                <a:srgbClr val="2563EB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2936676"/>
            <a:ext cx="110490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1" i="0" u="none">
                <a:solidFill>
                  <a:srgbClr val="334155"/>
                </a:solidFill>
                <a:latin typeface="Lato"/>
              </a:rPr>
              <a:t>Any Questions?</a:t>
            </a:r>
            <a:endParaRPr sz="2400" b="1" i="0" u="none">
              <a:solidFill>
                <a:srgbClr val="334155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0113" y="4338637"/>
            <a:ext cx="675084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Poppins SemiBold"/>
              </a:rPr>
              <a:t>Project Contributors</a:t>
            </a:r>
            <a:endParaRPr sz="1500" b="0" i="0" u="none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49045" y="4796155"/>
            <a:ext cx="9694545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2563EB"/>
                </a:solidFill>
                <a:latin typeface="Lato SemiBold"/>
              </a:rPr>
              <a:t>Ch.</a:t>
            </a:r>
            <a:r>
              <a:rPr lang="en-US" sz="1650" b="0" i="0" u="none">
                <a:solidFill>
                  <a:srgbClr val="2563EB"/>
                </a:solidFill>
                <a:latin typeface="Lato SemiBold"/>
              </a:rPr>
              <a:t>Kusumitha </a:t>
            </a:r>
            <a:r>
              <a:rPr sz="1650" b="0" i="0" u="none">
                <a:solidFill>
                  <a:srgbClr val="2563EB"/>
                </a:solidFill>
                <a:latin typeface="Lato SemiBold"/>
              </a:rPr>
              <a:t>Keerthi  |  Praveen Goswami  |  A.Aparajitha  |  K. Harsha Vardhan</a:t>
            </a:r>
            <a:endParaRPr sz="1650" b="0" i="0" u="none">
              <a:solidFill>
                <a:srgbClr val="2563EB"/>
              </a:solidFill>
              <a:latin typeface="Lato SemiBold"/>
            </a:endParaRPr>
          </a:p>
        </p:txBody>
      </p:sp>
      <p:pic>
        <p:nvPicPr>
          <p:cNvPr id="16" name="Picture 15" descr="Screenshot 2026-08-11 at 6.33.4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390" y="203200"/>
            <a:ext cx="1562735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4080</Words>
  <Application>WPS Presentation</Application>
  <PresentationFormat>On-screen Show (4:3)</PresentationFormat>
  <Paragraphs>144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Arial</vt:lpstr>
      <vt:lpstr>American Typewriter Regular</vt:lpstr>
      <vt:lpstr>汉仪力量黑简</vt:lpstr>
      <vt:lpstr>Lato</vt:lpstr>
      <vt:lpstr>Thonburi</vt:lpstr>
      <vt:lpstr>Poppins SemiBold</vt:lpstr>
      <vt:lpstr>Lato SemiBold</vt:lpstr>
      <vt:lpstr>Poppins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Praveen bharthi goswami</cp:lastModifiedBy>
  <cp:revision>8</cp:revision>
  <dcterms:created xsi:type="dcterms:W3CDTF">2026-08-11T01:25:35Z</dcterms:created>
  <dcterms:modified xsi:type="dcterms:W3CDTF">2026-08-11T01:25:35Z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9339A348B55FE672B4797A6AC9B8260C_43</vt:lpwstr>
  </property>
</Properties>
</file>